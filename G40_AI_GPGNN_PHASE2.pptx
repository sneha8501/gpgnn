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Lst>
  <p:notesMasterIdLst>
    <p:notesMasterId r:id="rId37"/>
  </p:notesMasterIdLst>
  <p:sldIdLst>
    <p:sldId id="256" r:id="rId4"/>
    <p:sldId id="257" r:id="rId5"/>
    <p:sldId id="258" r:id="rId6"/>
    <p:sldId id="268" r:id="rId7"/>
    <p:sldId id="320" r:id="rId8"/>
    <p:sldId id="259" r:id="rId9"/>
    <p:sldId id="260" r:id="rId10"/>
    <p:sldId id="262" r:id="rId11"/>
    <p:sldId id="323" r:id="rId12"/>
    <p:sldId id="271" r:id="rId13"/>
    <p:sldId id="272" r:id="rId14"/>
    <p:sldId id="273" r:id="rId15"/>
    <p:sldId id="274" r:id="rId16"/>
    <p:sldId id="287" r:id="rId17"/>
    <p:sldId id="299" r:id="rId18"/>
    <p:sldId id="293" r:id="rId19"/>
    <p:sldId id="300" r:id="rId20"/>
    <p:sldId id="276" r:id="rId21"/>
    <p:sldId id="283" r:id="rId22"/>
    <p:sldId id="284" r:id="rId23"/>
    <p:sldId id="286" r:id="rId24"/>
    <p:sldId id="285" r:id="rId25"/>
    <p:sldId id="306" r:id="rId26"/>
    <p:sldId id="305" r:id="rId27"/>
    <p:sldId id="301" r:id="rId28"/>
    <p:sldId id="321" r:id="rId29"/>
    <p:sldId id="327" r:id="rId30"/>
    <p:sldId id="296" r:id="rId31"/>
    <p:sldId id="326" r:id="rId32"/>
    <p:sldId id="297" r:id="rId33"/>
    <p:sldId id="324" r:id="rId34"/>
    <p:sldId id="325" r:id="rId35"/>
    <p:sldId id="282" r:id="rId36"/>
  </p:sldIdLst>
  <p:sldSz cx="12192000" cy="685800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968072-2930-E5C3-8964-D97034C6605E}" v="187" dt="2023-05-31T06:56:10.6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napToGrid="0">
      <p:cViewPr varScale="1">
        <p:scale>
          <a:sx n="82" d="100"/>
          <a:sy n="82" d="100"/>
        </p:scale>
        <p:origin x="557"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viewProps" Target="viewProps.xml"/><Relationship Id="rId21" Type="http://schemas.openxmlformats.org/officeDocument/2006/relationships/slide" Target="slides/slide18.xml"/><Relationship Id="rId34" Type="http://schemas.openxmlformats.org/officeDocument/2006/relationships/slide" Target="slides/slide31.xml"/><Relationship Id="rId42" Type="http://schemas.microsoft.com/office/2015/10/relationships/revisionInfo" Target="revisionInfo.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675" cy="50482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4402138" y="0"/>
            <a:ext cx="3368675" cy="504825"/>
          </a:xfrm>
          <a:prstGeom prst="rect">
            <a:avLst/>
          </a:prstGeom>
        </p:spPr>
        <p:txBody>
          <a:bodyPr vert="horz" lIns="91440" tIns="45720" rIns="91440" bIns="45720" rtlCol="0"/>
          <a:lstStyle>
            <a:lvl1pPr algn="r">
              <a:defRPr sz="1200"/>
            </a:lvl1pPr>
          </a:lstStyle>
          <a:p>
            <a:fld id="{152A36BC-8867-45CA-AD1A-58D558AF28C9}" type="datetimeFigureOut">
              <a:rPr lang="en-IN" smtClean="0"/>
              <a:t>31-05-2023</a:t>
            </a:fld>
            <a:endParaRPr lang="en-IN"/>
          </a:p>
        </p:txBody>
      </p:sp>
      <p:sp>
        <p:nvSpPr>
          <p:cNvPr id="4" name="Slide Image Placeholder 3"/>
          <p:cNvSpPr>
            <a:spLocks noGrp="1" noRot="1" noChangeAspect="1"/>
          </p:cNvSpPr>
          <p:nvPr>
            <p:ph type="sldImg" idx="2"/>
          </p:nvPr>
        </p:nvSpPr>
        <p:spPr>
          <a:xfrm>
            <a:off x="869950" y="1257300"/>
            <a:ext cx="6032500" cy="33940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777875" y="4840288"/>
            <a:ext cx="6216650" cy="39608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553575"/>
            <a:ext cx="3368675" cy="50482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4402138" y="9553575"/>
            <a:ext cx="3368675" cy="504825"/>
          </a:xfrm>
          <a:prstGeom prst="rect">
            <a:avLst/>
          </a:prstGeom>
        </p:spPr>
        <p:txBody>
          <a:bodyPr vert="horz" lIns="91440" tIns="45720" rIns="91440" bIns="45720" rtlCol="0" anchor="b"/>
          <a:lstStyle>
            <a:lvl1pPr algn="r">
              <a:defRPr sz="1200"/>
            </a:lvl1pPr>
          </a:lstStyle>
          <a:p>
            <a:fld id="{CBFA5F32-332B-4DFB-B61D-968C71BC0C44}" type="slidenum">
              <a:rPr lang="en-IN" smtClean="0"/>
              <a:t>‹#›</a:t>
            </a:fld>
            <a:endParaRPr lang="en-IN"/>
          </a:p>
        </p:txBody>
      </p:sp>
    </p:spTree>
    <p:extLst>
      <p:ext uri="{BB962C8B-B14F-4D97-AF65-F5344CB8AC3E}">
        <p14:creationId xmlns:p14="http://schemas.microsoft.com/office/powerpoint/2010/main" val="991982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00"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indent="0" algn="ctr">
              <a:buNone/>
            </a:pP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02"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04"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05"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7"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09"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10"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11"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1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13"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14"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15"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1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17"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18"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19"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2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21"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22"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2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24"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25"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26"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27"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2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29"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30"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31"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32"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33"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34"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7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79"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indent="0" algn="ctr">
              <a:buNone/>
            </a:pP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8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81"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8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83"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84"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8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86"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8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88"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89"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90"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9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92"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93"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94"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96"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97"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98"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9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200"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01"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0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203"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04"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05"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06"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0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208"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09"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10"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11"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12"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13"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5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258"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indent="0" algn="ctr">
              <a:buNone/>
            </a:pPr>
            <a:endParaRPr lang="en-US"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5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260"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6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262"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63"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6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65"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6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267"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68"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69"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7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271"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72"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73"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7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275"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76"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77"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7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279"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80"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8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282"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83"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84"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85"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8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287"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88"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89"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90"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91"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92"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2.pn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2.png"/><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blipFill>
        <a:effectLst/>
      </p:bgPr>
    </p:bg>
    <p:spTree>
      <p:nvGrpSpPr>
        <p:cNvPr id="1" name=""/>
        <p:cNvGrpSpPr/>
        <p:nvPr/>
      </p:nvGrpSpPr>
      <p:grpSpPr>
        <a:xfrm>
          <a:off x="0" y="0"/>
          <a:ext cx="0" cy="0"/>
          <a:chOff x="0" y="0"/>
          <a:chExt cx="0" cy="0"/>
        </a:xfrm>
      </p:grpSpPr>
      <p:pic>
        <p:nvPicPr>
          <p:cNvPr id="99" name="Picture 2" descr="\\DROBO-FS\QuickDrops\JB\PPTX NG\Droplets\LightingOverlay.png"/>
          <p:cNvPicPr/>
          <p:nvPr/>
        </p:nvPicPr>
        <p:blipFill>
          <a:blip r:embed="rId15">
            <a:alphaModFix amt="30000"/>
          </a:blip>
          <a:stretch/>
        </p:blipFill>
        <p:spPr>
          <a:xfrm>
            <a:off x="0" y="0"/>
            <a:ext cx="12191400" cy="6857280"/>
          </a:xfrm>
          <a:prstGeom prst="rect">
            <a:avLst/>
          </a:prstGeom>
          <a:ln w="0">
            <a:noFill/>
          </a:ln>
        </p:spPr>
      </p:pic>
      <p:grpSp>
        <p:nvGrpSpPr>
          <p:cNvPr id="100" name="Group 7"/>
          <p:cNvGrpSpPr/>
          <p:nvPr/>
        </p:nvGrpSpPr>
        <p:grpSpPr>
          <a:xfrm>
            <a:off x="-14400" y="0"/>
            <a:ext cx="12053160" cy="6857280"/>
            <a:chOff x="-14400" y="0"/>
            <a:chExt cx="12053160" cy="6857280"/>
          </a:xfrm>
        </p:grpSpPr>
        <p:grpSp>
          <p:nvGrpSpPr>
            <p:cNvPr id="2" name="Group 8"/>
            <p:cNvGrpSpPr/>
            <p:nvPr/>
          </p:nvGrpSpPr>
          <p:grpSpPr>
            <a:xfrm>
              <a:off x="-14400" y="0"/>
              <a:ext cx="1220400" cy="6857280"/>
              <a:chOff x="-14400" y="0"/>
              <a:chExt cx="1220400" cy="6857280"/>
            </a:xfrm>
          </p:grpSpPr>
          <p:sp>
            <p:nvSpPr>
              <p:cNvPr id="3" name="Rectangle 5"/>
              <p:cNvSpPr/>
              <p:nvPr/>
            </p:nvSpPr>
            <p:spPr>
              <a:xfrm>
                <a:off x="114480" y="4680"/>
                <a:ext cx="23040" cy="2180520"/>
              </a:xfrm>
              <a:prstGeom prst="rect">
                <a:avLst/>
              </a:pr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4" name="Freeform 6"/>
              <p:cNvSpPr/>
              <p:nvPr/>
            </p:nvSpPr>
            <p:spPr>
              <a:xfrm>
                <a:off x="33480" y="217656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5" name="Freeform 7"/>
              <p:cNvSpPr/>
              <p:nvPr/>
            </p:nvSpPr>
            <p:spPr>
              <a:xfrm>
                <a:off x="28440" y="4021200"/>
                <a:ext cx="189720" cy="188280"/>
              </a:xfrm>
              <a:custGeom>
                <a:avLst/>
                <a:gdLst>
                  <a:gd name="textAreaLeft" fmla="*/ 0 w 189720"/>
                  <a:gd name="textAreaRight" fmla="*/ 190080 w 189720"/>
                  <a:gd name="textAreaTop" fmla="*/ 0 h 188280"/>
                  <a:gd name="textAreaBottom" fmla="*/ 188640 h 1882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6" name="Freeform 8"/>
              <p:cNvSpPr/>
              <p:nvPr/>
            </p:nvSpPr>
            <p:spPr>
              <a:xfrm>
                <a:off x="200160" y="4680"/>
                <a:ext cx="369000" cy="1810440"/>
              </a:xfrm>
              <a:custGeom>
                <a:avLst/>
                <a:gdLst>
                  <a:gd name="textAreaLeft" fmla="*/ 0 w 369000"/>
                  <a:gd name="textAreaRight" fmla="*/ 369360 w 369000"/>
                  <a:gd name="textAreaTop" fmla="*/ 0 h 1810440"/>
                  <a:gd name="textAreaBottom" fmla="*/ 1810800 h 1810440"/>
                </a:gdLst>
                <a:ahLst/>
                <a:cxn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7" name="Freeform 9"/>
              <p:cNvSpPr/>
              <p:nvPr/>
            </p:nvSpPr>
            <p:spPr>
              <a:xfrm>
                <a:off x="503280" y="1801800"/>
                <a:ext cx="189720" cy="188280"/>
              </a:xfrm>
              <a:custGeom>
                <a:avLst/>
                <a:gdLst>
                  <a:gd name="textAreaLeft" fmla="*/ 0 w 189720"/>
                  <a:gd name="textAreaRight" fmla="*/ 190080 w 189720"/>
                  <a:gd name="textAreaTop" fmla="*/ 0 h 188280"/>
                  <a:gd name="textAreaBottom" fmla="*/ 188640 h 18828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8" name="Freeform 10"/>
              <p:cNvSpPr/>
              <p:nvPr/>
            </p:nvSpPr>
            <p:spPr>
              <a:xfrm>
                <a:off x="285840" y="4680"/>
                <a:ext cx="369000" cy="1429560"/>
              </a:xfrm>
              <a:custGeom>
                <a:avLst/>
                <a:gdLst>
                  <a:gd name="textAreaLeft" fmla="*/ 0 w 369000"/>
                  <a:gd name="textAreaRight" fmla="*/ 369360 w 369000"/>
                  <a:gd name="textAreaTop" fmla="*/ 0 h 1429560"/>
                  <a:gd name="textAreaBottom" fmla="*/ 1429920 h 1429560"/>
                </a:gdLst>
                <a:ahLst/>
                <a:cxn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9" name="Freeform 11"/>
              <p:cNvSpPr/>
              <p:nvPr/>
            </p:nvSpPr>
            <p:spPr>
              <a:xfrm>
                <a:off x="546120" y="0"/>
                <a:ext cx="151560" cy="912240"/>
              </a:xfrm>
              <a:custGeom>
                <a:avLst/>
                <a:gdLst>
                  <a:gd name="textAreaLeft" fmla="*/ 0 w 151560"/>
                  <a:gd name="textAreaRight" fmla="*/ 151920 w 151560"/>
                  <a:gd name="textAreaTop" fmla="*/ 0 h 912240"/>
                  <a:gd name="textAreaBottom" fmla="*/ 912600 h 912240"/>
                </a:gdLst>
                <a:ahLst/>
                <a:cxn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0" name="Freeform 12"/>
              <p:cNvSpPr/>
              <p:nvPr/>
            </p:nvSpPr>
            <p:spPr>
              <a:xfrm>
                <a:off x="588960" y="142092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1" name="Freeform 13"/>
              <p:cNvSpPr/>
              <p:nvPr/>
            </p:nvSpPr>
            <p:spPr>
              <a:xfrm>
                <a:off x="588960" y="90324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2" name="Freeform 14"/>
              <p:cNvSpPr/>
              <p:nvPr/>
            </p:nvSpPr>
            <p:spPr>
              <a:xfrm>
                <a:off x="641520" y="0"/>
                <a:ext cx="421560" cy="526320"/>
              </a:xfrm>
              <a:custGeom>
                <a:avLst/>
                <a:gdLst>
                  <a:gd name="textAreaLeft" fmla="*/ 0 w 421560"/>
                  <a:gd name="textAreaRight" fmla="*/ 421920 w 421560"/>
                  <a:gd name="textAreaTop" fmla="*/ 0 h 526320"/>
                  <a:gd name="textAreaBottom" fmla="*/ 526680 h 526320"/>
                </a:gdLst>
                <a:ahLst/>
                <a:cxn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3" name="Freeform 15"/>
              <p:cNvSpPr/>
              <p:nvPr/>
            </p:nvSpPr>
            <p:spPr>
              <a:xfrm>
                <a:off x="1020600" y="488880"/>
                <a:ext cx="161280" cy="146880"/>
              </a:xfrm>
              <a:custGeom>
                <a:avLst/>
                <a:gdLst>
                  <a:gd name="textAreaLeft" fmla="*/ 0 w 161280"/>
                  <a:gd name="textAreaRight" fmla="*/ 161640 w 161280"/>
                  <a:gd name="textAreaTop" fmla="*/ 0 h 146880"/>
                  <a:gd name="textAreaBottom" fmla="*/ 147240 h 146880"/>
                </a:gdLst>
                <a:ahLst/>
                <a:cxn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4" name="Line 16"/>
              <p:cNvSpPr/>
              <p:nvPr/>
            </p:nvSpPr>
            <p:spPr>
              <a:xfrm>
                <a:off x="-4680" y="9360"/>
                <a:ext cx="360" cy="360"/>
              </a:xfrm>
              <a:custGeom>
                <a:avLst/>
                <a:gdLst>
                  <a:gd name="textAreaLeft" fmla="*/ 0 w 360"/>
                  <a:gd name="textAreaRight" fmla="*/ 720 w 360"/>
                  <a:gd name="textAreaTop" fmla="*/ 0 h 360"/>
                  <a:gd name="textAreaBottom" fmla="*/ 720 h 360"/>
                </a:gdLst>
                <a:ahLst/>
                <a:cxnLst/>
                <a:rect l="textAreaLeft" t="textAreaTop" r="textAreaRight" b="textAreaBottom"/>
                <a:pathLst>
                  <a:path w="1" h="1">
                    <a:moveTo>
                      <a:pt x="0" y="0"/>
                    </a:moveTo>
                    <a:lnTo>
                      <a:pt x="0" y="0"/>
                    </a:lnTo>
                  </a:path>
                </a:pathLst>
              </a:custGeom>
              <a:noFill/>
              <a:ln w="15">
                <a:solidFill>
                  <a:srgbClr val="FFFFFF"/>
                </a:solidFill>
              </a:ln>
            </p:spPr>
            <p:style>
              <a:lnRef idx="0">
                <a:scrgbClr r="0" g="0" b="0"/>
              </a:lnRef>
              <a:fillRef idx="0">
                <a:scrgbClr r="0" g="0" b="0"/>
              </a:fillRef>
              <a:effectRef idx="0">
                <a:scrgbClr r="0" g="0" b="0"/>
              </a:effectRef>
              <a:fontRef idx="minor"/>
            </p:style>
          </p:sp>
          <p:sp>
            <p:nvSpPr>
              <p:cNvPr id="15" name="Freeform 17"/>
              <p:cNvSpPr/>
              <p:nvPr/>
            </p:nvSpPr>
            <p:spPr>
              <a:xfrm>
                <a:off x="9360" y="1801800"/>
                <a:ext cx="123120" cy="126360"/>
              </a:xfrm>
              <a:custGeom>
                <a:avLst/>
                <a:gdLst>
                  <a:gd name="textAreaLeft" fmla="*/ 0 w 123120"/>
                  <a:gd name="textAreaRight" fmla="*/ 123480 w 123120"/>
                  <a:gd name="textAreaTop" fmla="*/ 0 h 126360"/>
                  <a:gd name="textAreaBottom" fmla="*/ 126720 h 126360"/>
                </a:gdLst>
                <a:ahLst/>
                <a:cxn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6" name="Freeform 18"/>
              <p:cNvSpPr/>
              <p:nvPr/>
            </p:nvSpPr>
            <p:spPr>
              <a:xfrm>
                <a:off x="-9360" y="3549600"/>
                <a:ext cx="146880" cy="480240"/>
              </a:xfrm>
              <a:custGeom>
                <a:avLst/>
                <a:gdLst>
                  <a:gd name="textAreaLeft" fmla="*/ 0 w 146880"/>
                  <a:gd name="textAreaRight" fmla="*/ 147240 w 146880"/>
                  <a:gd name="textAreaTop" fmla="*/ 0 h 480240"/>
                  <a:gd name="textAreaBottom" fmla="*/ 480600 h 480240"/>
                </a:gdLst>
                <a:ahLst/>
                <a:cxn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7" name="Freeform 19"/>
              <p:cNvSpPr/>
              <p:nvPr/>
            </p:nvSpPr>
            <p:spPr>
              <a:xfrm>
                <a:off x="128520" y="1382760"/>
                <a:ext cx="142200" cy="475560"/>
              </a:xfrm>
              <a:custGeom>
                <a:avLst/>
                <a:gdLst>
                  <a:gd name="textAreaLeft" fmla="*/ 0 w 142200"/>
                  <a:gd name="textAreaRight" fmla="*/ 142560 w 142200"/>
                  <a:gd name="textAreaTop" fmla="*/ 0 h 475560"/>
                  <a:gd name="textAreaBottom" fmla="*/ 475920 h 475560"/>
                </a:gdLst>
                <a:ahLst/>
                <a:cxn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8" name="Freeform 20"/>
              <p:cNvSpPr/>
              <p:nvPr/>
            </p:nvSpPr>
            <p:spPr>
              <a:xfrm>
                <a:off x="204840" y="1849320"/>
                <a:ext cx="113760" cy="107280"/>
              </a:xfrm>
              <a:custGeom>
                <a:avLst/>
                <a:gdLst>
                  <a:gd name="textAreaLeft" fmla="*/ 0 w 113760"/>
                  <a:gd name="textAreaRight" fmla="*/ 114120 w 113760"/>
                  <a:gd name="textAreaTop" fmla="*/ 0 h 107280"/>
                  <a:gd name="textAreaBottom" fmla="*/ 107640 h 107280"/>
                </a:gdLst>
                <a:ahLst/>
                <a:cxn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9" name="Rectangle 21"/>
              <p:cNvSpPr/>
              <p:nvPr/>
            </p:nvSpPr>
            <p:spPr>
              <a:xfrm>
                <a:off x="133200" y="4662360"/>
                <a:ext cx="23040" cy="2180520"/>
              </a:xfrm>
              <a:prstGeom prst="rect">
                <a:avLst/>
              </a:pr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0" name="Freeform 22"/>
              <p:cNvSpPr/>
              <p:nvPr/>
            </p:nvSpPr>
            <p:spPr>
              <a:xfrm>
                <a:off x="223920" y="5041800"/>
                <a:ext cx="369000" cy="1801080"/>
              </a:xfrm>
              <a:custGeom>
                <a:avLst/>
                <a:gdLst>
                  <a:gd name="textAreaLeft" fmla="*/ 0 w 369000"/>
                  <a:gd name="textAreaRight" fmla="*/ 369360 w 369000"/>
                  <a:gd name="textAreaTop" fmla="*/ 0 h 1801080"/>
                  <a:gd name="textAreaBottom" fmla="*/ 1801440 h 1801080"/>
                </a:gdLst>
                <a:ahLst/>
                <a:cxn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1" name="Freeform 23"/>
              <p:cNvSpPr/>
              <p:nvPr/>
            </p:nvSpPr>
            <p:spPr>
              <a:xfrm>
                <a:off x="52560" y="448164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2" name="Freeform 24"/>
              <p:cNvSpPr/>
              <p:nvPr/>
            </p:nvSpPr>
            <p:spPr>
              <a:xfrm>
                <a:off x="-14400" y="5627520"/>
                <a:ext cx="84960" cy="1215360"/>
              </a:xfrm>
              <a:custGeom>
                <a:avLst/>
                <a:gdLst>
                  <a:gd name="textAreaLeft" fmla="*/ 0 w 84960"/>
                  <a:gd name="textAreaRight" fmla="*/ 85320 w 84960"/>
                  <a:gd name="textAreaTop" fmla="*/ 0 h 1215360"/>
                  <a:gd name="textAreaBottom" fmla="*/ 1215720 h 1215360"/>
                </a:gdLst>
                <a:ahLst/>
                <a:cxn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3" name="Freeform 25"/>
              <p:cNvSpPr/>
              <p:nvPr/>
            </p:nvSpPr>
            <p:spPr>
              <a:xfrm>
                <a:off x="527040" y="4867200"/>
                <a:ext cx="189720" cy="188280"/>
              </a:xfrm>
              <a:custGeom>
                <a:avLst/>
                <a:gdLst>
                  <a:gd name="textAreaLeft" fmla="*/ 0 w 189720"/>
                  <a:gd name="textAreaRight" fmla="*/ 190080 w 189720"/>
                  <a:gd name="textAreaTop" fmla="*/ 0 h 188280"/>
                  <a:gd name="textAreaBottom" fmla="*/ 188640 h 1882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4" name="Freeform 26"/>
              <p:cNvSpPr/>
              <p:nvPr/>
            </p:nvSpPr>
            <p:spPr>
              <a:xfrm>
                <a:off x="309600" y="5423040"/>
                <a:ext cx="374040" cy="1424880"/>
              </a:xfrm>
              <a:custGeom>
                <a:avLst/>
                <a:gdLst>
                  <a:gd name="textAreaLeft" fmla="*/ 0 w 374040"/>
                  <a:gd name="textAreaRight" fmla="*/ 374400 w 374040"/>
                  <a:gd name="textAreaTop" fmla="*/ 0 h 1424880"/>
                  <a:gd name="textAreaBottom" fmla="*/ 1425240 h 1424880"/>
                </a:gdLst>
                <a:ahLst/>
                <a:cxn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5" name="Freeform 27"/>
              <p:cNvSpPr/>
              <p:nvPr/>
            </p:nvSpPr>
            <p:spPr>
              <a:xfrm>
                <a:off x="569880" y="5945040"/>
                <a:ext cx="151560" cy="912240"/>
              </a:xfrm>
              <a:custGeom>
                <a:avLst/>
                <a:gdLst>
                  <a:gd name="textAreaLeft" fmla="*/ 0 w 151560"/>
                  <a:gd name="textAreaRight" fmla="*/ 151920 w 151560"/>
                  <a:gd name="textAreaTop" fmla="*/ 0 h 912240"/>
                  <a:gd name="textAreaBottom" fmla="*/ 912600 h 912240"/>
                </a:gdLst>
                <a:ahLst/>
                <a:cxn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6" name="Freeform 28"/>
              <p:cNvSpPr/>
              <p:nvPr/>
            </p:nvSpPr>
            <p:spPr>
              <a:xfrm>
                <a:off x="612720" y="524664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7" name="Freeform 29"/>
              <p:cNvSpPr/>
              <p:nvPr/>
            </p:nvSpPr>
            <p:spPr>
              <a:xfrm>
                <a:off x="612720" y="576432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8" name="Freeform 30"/>
              <p:cNvSpPr/>
              <p:nvPr/>
            </p:nvSpPr>
            <p:spPr>
              <a:xfrm>
                <a:off x="669960" y="6330960"/>
                <a:ext cx="416880" cy="516960"/>
              </a:xfrm>
              <a:custGeom>
                <a:avLst/>
                <a:gdLst>
                  <a:gd name="textAreaLeft" fmla="*/ 0 w 416880"/>
                  <a:gd name="textAreaRight" fmla="*/ 417240 w 416880"/>
                  <a:gd name="textAreaTop" fmla="*/ 0 h 516960"/>
                  <a:gd name="textAreaBottom" fmla="*/ 517320 h 516960"/>
                </a:gdLst>
                <a:ahLst/>
                <a:cxn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9" name="Freeform 31"/>
              <p:cNvSpPr/>
              <p:nvPr/>
            </p:nvSpPr>
            <p:spPr>
              <a:xfrm>
                <a:off x="1049400" y="6221520"/>
                <a:ext cx="156600" cy="146880"/>
              </a:xfrm>
              <a:custGeom>
                <a:avLst/>
                <a:gdLst>
                  <a:gd name="textAreaLeft" fmla="*/ 0 w 156600"/>
                  <a:gd name="textAreaRight" fmla="*/ 156960 w 156600"/>
                  <a:gd name="textAreaTop" fmla="*/ 0 h 146880"/>
                  <a:gd name="textAreaBottom" fmla="*/ 147240 h 146880"/>
                </a:gdLst>
                <a:ahLst/>
                <a:cxn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grpSp>
        <p:grpSp>
          <p:nvGrpSpPr>
            <p:cNvPr id="30" name="Group 9"/>
            <p:cNvGrpSpPr/>
            <p:nvPr/>
          </p:nvGrpSpPr>
          <p:grpSpPr>
            <a:xfrm>
              <a:off x="11364840" y="0"/>
              <a:ext cx="673920" cy="6847920"/>
              <a:chOff x="11364840" y="0"/>
              <a:chExt cx="673920" cy="6847920"/>
            </a:xfrm>
          </p:grpSpPr>
          <p:sp>
            <p:nvSpPr>
              <p:cNvPr id="31" name="Freeform 32"/>
              <p:cNvSpPr/>
              <p:nvPr/>
            </p:nvSpPr>
            <p:spPr>
              <a:xfrm>
                <a:off x="11484000" y="0"/>
                <a:ext cx="416880" cy="511920"/>
              </a:xfrm>
              <a:custGeom>
                <a:avLst/>
                <a:gdLst>
                  <a:gd name="textAreaLeft" fmla="*/ 0 w 416880"/>
                  <a:gd name="textAreaRight" fmla="*/ 417240 w 416880"/>
                  <a:gd name="textAreaTop" fmla="*/ 0 h 511920"/>
                  <a:gd name="textAreaBottom" fmla="*/ 512280 h 511920"/>
                </a:gdLst>
                <a:ahLst/>
                <a:cxn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32" name="Freeform 33"/>
              <p:cNvSpPr/>
              <p:nvPr/>
            </p:nvSpPr>
            <p:spPr>
              <a:xfrm>
                <a:off x="11364840" y="474840"/>
                <a:ext cx="156600" cy="151560"/>
              </a:xfrm>
              <a:custGeom>
                <a:avLst/>
                <a:gdLst>
                  <a:gd name="textAreaLeft" fmla="*/ 0 w 156600"/>
                  <a:gd name="textAreaRight" fmla="*/ 156960 w 156600"/>
                  <a:gd name="textAreaTop" fmla="*/ 0 h 151560"/>
                  <a:gd name="textAreaBottom" fmla="*/ 151920 h 151560"/>
                </a:gdLst>
                <a:ahLst/>
                <a:cxn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33" name="Freeform 34"/>
              <p:cNvSpPr/>
              <p:nvPr/>
            </p:nvSpPr>
            <p:spPr>
              <a:xfrm>
                <a:off x="11631600" y="1539720"/>
                <a:ext cx="188280" cy="189720"/>
              </a:xfrm>
              <a:custGeom>
                <a:avLst/>
                <a:gdLst>
                  <a:gd name="textAreaLeft" fmla="*/ 0 w 188280"/>
                  <a:gd name="textAreaRight" fmla="*/ 188640 w 18828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34" name="Freeform 35"/>
              <p:cNvSpPr/>
              <p:nvPr/>
            </p:nvSpPr>
            <p:spPr>
              <a:xfrm>
                <a:off x="11531520" y="5694480"/>
                <a:ext cx="297720" cy="1153440"/>
              </a:xfrm>
              <a:custGeom>
                <a:avLst/>
                <a:gdLst>
                  <a:gd name="textAreaLeft" fmla="*/ 0 w 297720"/>
                  <a:gd name="textAreaRight" fmla="*/ 298080 w 297720"/>
                  <a:gd name="textAreaTop" fmla="*/ 0 h 1153440"/>
                  <a:gd name="textAreaBottom" fmla="*/ 1153800 h 1153440"/>
                </a:gdLst>
                <a:ahLst/>
                <a:cxn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35" name="Freeform 36"/>
              <p:cNvSpPr/>
              <p:nvPr/>
            </p:nvSpPr>
            <p:spPr>
              <a:xfrm>
                <a:off x="11773080" y="5551560"/>
                <a:ext cx="156600" cy="154800"/>
              </a:xfrm>
              <a:custGeom>
                <a:avLst/>
                <a:gdLst>
                  <a:gd name="textAreaLeft" fmla="*/ 0 w 156600"/>
                  <a:gd name="textAreaRight" fmla="*/ 156960 w 156600"/>
                  <a:gd name="textAreaTop" fmla="*/ 0 h 154800"/>
                  <a:gd name="textAreaBottom" fmla="*/ 155160 h 154800"/>
                </a:gdLst>
                <a:ahLst/>
                <a:cxn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36" name="Freeform 37"/>
              <p:cNvSpPr/>
              <p:nvPr/>
            </p:nvSpPr>
            <p:spPr>
              <a:xfrm>
                <a:off x="11711160" y="4680"/>
                <a:ext cx="304200" cy="1544040"/>
              </a:xfrm>
              <a:custGeom>
                <a:avLst/>
                <a:gdLst>
                  <a:gd name="textAreaLeft" fmla="*/ 0 w 304200"/>
                  <a:gd name="textAreaRight" fmla="*/ 304560 w 304200"/>
                  <a:gd name="textAreaTop" fmla="*/ 0 h 1544040"/>
                  <a:gd name="textAreaBottom" fmla="*/ 1544400 h 1544040"/>
                </a:gdLst>
                <a:ahLst/>
                <a:cxn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37" name="Freeform 38"/>
              <p:cNvSpPr/>
              <p:nvPr/>
            </p:nvSpPr>
            <p:spPr>
              <a:xfrm>
                <a:off x="11636280" y="4867200"/>
                <a:ext cx="188280" cy="188280"/>
              </a:xfrm>
              <a:custGeom>
                <a:avLst/>
                <a:gdLst>
                  <a:gd name="textAreaLeft" fmla="*/ 0 w 188280"/>
                  <a:gd name="textAreaRight" fmla="*/ 188640 w 188280"/>
                  <a:gd name="textAreaTop" fmla="*/ 0 h 188280"/>
                  <a:gd name="textAreaBottom" fmla="*/ 188640 h 1882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38" name="Freeform 39"/>
              <p:cNvSpPr/>
              <p:nvPr/>
            </p:nvSpPr>
            <p:spPr>
              <a:xfrm>
                <a:off x="11441160" y="5046840"/>
                <a:ext cx="307080" cy="1801080"/>
              </a:xfrm>
              <a:custGeom>
                <a:avLst/>
                <a:gdLst>
                  <a:gd name="textAreaLeft" fmla="*/ 0 w 307080"/>
                  <a:gd name="textAreaRight" fmla="*/ 307440 w 307080"/>
                  <a:gd name="textAreaTop" fmla="*/ 0 h 1801080"/>
                  <a:gd name="textAreaBottom" fmla="*/ 1801440 h 1801080"/>
                </a:gdLst>
                <a:ahLst/>
                <a:cxn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39" name="Freeform 40"/>
              <p:cNvSpPr/>
              <p:nvPr/>
            </p:nvSpPr>
            <p:spPr>
              <a:xfrm>
                <a:off x="11849040" y="6416640"/>
                <a:ext cx="189720" cy="188280"/>
              </a:xfrm>
              <a:custGeom>
                <a:avLst/>
                <a:gdLst>
                  <a:gd name="textAreaLeft" fmla="*/ 0 w 189720"/>
                  <a:gd name="textAreaRight" fmla="*/ 190080 w 189720"/>
                  <a:gd name="textAreaTop" fmla="*/ 0 h 188280"/>
                  <a:gd name="textAreaBottom" fmla="*/ 188640 h 1882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40" name="Rectangle 41"/>
              <p:cNvSpPr/>
              <p:nvPr/>
            </p:nvSpPr>
            <p:spPr>
              <a:xfrm>
                <a:off x="11939760" y="6595920"/>
                <a:ext cx="23040" cy="251640"/>
              </a:xfrm>
              <a:prstGeom prst="rect">
                <a:avLst/>
              </a:pr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grpSp>
      </p:grpSp>
      <p:pic>
        <p:nvPicPr>
          <p:cNvPr id="41" name="Picture 2" descr="\\DROBO-FS\QuickDrops\JB\PPTX NG\Droplets\LightingOverlay.png"/>
          <p:cNvPicPr/>
          <p:nvPr/>
        </p:nvPicPr>
        <p:blipFill>
          <a:blip r:embed="rId15">
            <a:alphaModFix amt="30000"/>
          </a:blip>
          <a:stretch/>
        </p:blipFill>
        <p:spPr>
          <a:xfrm>
            <a:off x="0" y="0"/>
            <a:ext cx="12191400" cy="6857280"/>
          </a:xfrm>
          <a:prstGeom prst="rect">
            <a:avLst/>
          </a:prstGeom>
          <a:ln w="0">
            <a:noFill/>
          </a:ln>
        </p:spPr>
      </p:pic>
      <p:grpSp>
        <p:nvGrpSpPr>
          <p:cNvPr id="42" name="Group 10"/>
          <p:cNvGrpSpPr/>
          <p:nvPr/>
        </p:nvGrpSpPr>
        <p:grpSpPr>
          <a:xfrm>
            <a:off x="0" y="0"/>
            <a:ext cx="2304360" cy="6857280"/>
            <a:chOff x="0" y="0"/>
            <a:chExt cx="2304360" cy="6857280"/>
          </a:xfrm>
        </p:grpSpPr>
        <p:sp>
          <p:nvSpPr>
            <p:cNvPr id="43" name="Rectangle 5"/>
            <p:cNvSpPr/>
            <p:nvPr/>
          </p:nvSpPr>
          <p:spPr>
            <a:xfrm>
              <a:off x="1209600" y="4680"/>
              <a:ext cx="23040" cy="2180520"/>
            </a:xfrm>
            <a:prstGeom prst="rect">
              <a:avLst/>
            </a:pr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44" name="Freeform 6"/>
            <p:cNvSpPr/>
            <p:nvPr/>
          </p:nvSpPr>
          <p:spPr>
            <a:xfrm>
              <a:off x="1128600" y="217656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45" name="Freeform 7"/>
            <p:cNvSpPr/>
            <p:nvPr/>
          </p:nvSpPr>
          <p:spPr>
            <a:xfrm>
              <a:off x="1123920" y="4021200"/>
              <a:ext cx="189720" cy="188280"/>
            </a:xfrm>
            <a:custGeom>
              <a:avLst/>
              <a:gdLst>
                <a:gd name="textAreaLeft" fmla="*/ 0 w 189720"/>
                <a:gd name="textAreaRight" fmla="*/ 190080 w 189720"/>
                <a:gd name="textAreaTop" fmla="*/ 0 h 188280"/>
                <a:gd name="textAreaBottom" fmla="*/ 188640 h 1882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46" name="Rectangle 8"/>
            <p:cNvSpPr/>
            <p:nvPr/>
          </p:nvSpPr>
          <p:spPr>
            <a:xfrm>
              <a:off x="414360" y="9360"/>
              <a:ext cx="27720" cy="4480920"/>
            </a:xfrm>
            <a:prstGeom prst="rect">
              <a:avLst/>
            </a:pr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47" name="Freeform 9"/>
            <p:cNvSpPr/>
            <p:nvPr/>
          </p:nvSpPr>
          <p:spPr>
            <a:xfrm>
              <a:off x="333360" y="448164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48" name="Freeform 10"/>
            <p:cNvSpPr/>
            <p:nvPr/>
          </p:nvSpPr>
          <p:spPr>
            <a:xfrm>
              <a:off x="190440" y="9360"/>
              <a:ext cx="151560" cy="907200"/>
            </a:xfrm>
            <a:custGeom>
              <a:avLst/>
              <a:gdLst>
                <a:gd name="textAreaLeft" fmla="*/ 0 w 151560"/>
                <a:gd name="textAreaRight" fmla="*/ 151920 w 151560"/>
                <a:gd name="textAreaTop" fmla="*/ 0 h 907200"/>
                <a:gd name="textAreaBottom" fmla="*/ 907560 h 907200"/>
              </a:gdLst>
              <a:ahLst/>
              <a:cxnLst/>
              <a:rect l="textAreaLeft" t="textAreaTop" r="textAreaRight" b="textAreaBottom"/>
              <a:pathLst>
                <a:path w="96" h="572">
                  <a:moveTo>
                    <a:pt x="15" y="572"/>
                  </a:moveTo>
                  <a:lnTo>
                    <a:pt x="0" y="566"/>
                  </a:lnTo>
                  <a:lnTo>
                    <a:pt x="81" y="380"/>
                  </a:lnTo>
                  <a:lnTo>
                    <a:pt x="81" y="0"/>
                  </a:lnTo>
                  <a:lnTo>
                    <a:pt x="96" y="0"/>
                  </a:lnTo>
                  <a:lnTo>
                    <a:pt x="96" y="383"/>
                  </a:lnTo>
                  <a:lnTo>
                    <a:pt x="15" y="572"/>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49" name="Freeform 11"/>
            <p:cNvSpPr/>
            <p:nvPr/>
          </p:nvSpPr>
          <p:spPr>
            <a:xfrm>
              <a:off x="1290600" y="14400"/>
              <a:ext cx="375480" cy="1801080"/>
            </a:xfrm>
            <a:custGeom>
              <a:avLst/>
              <a:gdLst>
                <a:gd name="textAreaLeft" fmla="*/ 0 w 375480"/>
                <a:gd name="textAreaRight" fmla="*/ 375840 w 375480"/>
                <a:gd name="textAreaTop" fmla="*/ 0 h 1801080"/>
                <a:gd name="textAreaBottom" fmla="*/ 1801440 h 1801080"/>
              </a:gdLst>
              <a:ahLst/>
              <a:cxnLst/>
              <a:rect l="textAreaLeft" t="textAreaTop" r="textAreaRight" b="textAreaBottom"/>
              <a:pathLst>
                <a:path w="237" h="1135">
                  <a:moveTo>
                    <a:pt x="222" y="1135"/>
                  </a:moveTo>
                  <a:lnTo>
                    <a:pt x="0" y="620"/>
                  </a:lnTo>
                  <a:lnTo>
                    <a:pt x="0" y="0"/>
                  </a:lnTo>
                  <a:lnTo>
                    <a:pt x="18" y="0"/>
                  </a:lnTo>
                  <a:lnTo>
                    <a:pt x="18" y="617"/>
                  </a:lnTo>
                  <a:lnTo>
                    <a:pt x="237" y="1129"/>
                  </a:lnTo>
                  <a:lnTo>
                    <a:pt x="222" y="1135"/>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50" name="Freeform 12"/>
            <p:cNvSpPr/>
            <p:nvPr/>
          </p:nvSpPr>
          <p:spPr>
            <a:xfrm>
              <a:off x="1600200" y="1801800"/>
              <a:ext cx="189720" cy="188280"/>
            </a:xfrm>
            <a:custGeom>
              <a:avLst/>
              <a:gdLst>
                <a:gd name="textAreaLeft" fmla="*/ 0 w 189720"/>
                <a:gd name="textAreaRight" fmla="*/ 190080 w 189720"/>
                <a:gd name="textAreaTop" fmla="*/ 0 h 188280"/>
                <a:gd name="textAreaBottom" fmla="*/ 188640 h 1882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51" name="Freeform 13"/>
            <p:cNvSpPr/>
            <p:nvPr/>
          </p:nvSpPr>
          <p:spPr>
            <a:xfrm>
              <a:off x="1380960" y="9360"/>
              <a:ext cx="370800" cy="1424880"/>
            </a:xfrm>
            <a:custGeom>
              <a:avLst/>
              <a:gdLst>
                <a:gd name="textAreaLeft" fmla="*/ 0 w 370800"/>
                <a:gd name="textAreaRight" fmla="*/ 371160 w 370800"/>
                <a:gd name="textAreaTop" fmla="*/ 0 h 1424880"/>
                <a:gd name="textAreaBottom" fmla="*/ 1425240 h 1424880"/>
              </a:gdLst>
              <a:ahLst/>
              <a:cxnLst/>
              <a:rect l="textAreaLeft" t="textAreaTop" r="textAreaRight" b="textAreaBottom"/>
              <a:pathLst>
                <a:path w="234" h="898">
                  <a:moveTo>
                    <a:pt x="219" y="898"/>
                  </a:moveTo>
                  <a:lnTo>
                    <a:pt x="0" y="383"/>
                  </a:lnTo>
                  <a:lnTo>
                    <a:pt x="0" y="0"/>
                  </a:lnTo>
                  <a:lnTo>
                    <a:pt x="15" y="0"/>
                  </a:lnTo>
                  <a:lnTo>
                    <a:pt x="15" y="380"/>
                  </a:lnTo>
                  <a:lnTo>
                    <a:pt x="234" y="892"/>
                  </a:lnTo>
                  <a:lnTo>
                    <a:pt x="219" y="898"/>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52" name="Freeform 14"/>
            <p:cNvSpPr/>
            <p:nvPr/>
          </p:nvSpPr>
          <p:spPr>
            <a:xfrm>
              <a:off x="1643040" y="0"/>
              <a:ext cx="151560" cy="912240"/>
            </a:xfrm>
            <a:custGeom>
              <a:avLst/>
              <a:gdLst>
                <a:gd name="textAreaLeft" fmla="*/ 0 w 151560"/>
                <a:gd name="textAreaRight" fmla="*/ 151920 w 151560"/>
                <a:gd name="textAreaTop" fmla="*/ 0 h 912240"/>
                <a:gd name="textAreaBottom" fmla="*/ 912600 h 912240"/>
              </a:gdLst>
              <a:ahLst/>
              <a:cxn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53" name="Freeform 15"/>
            <p:cNvSpPr/>
            <p:nvPr/>
          </p:nvSpPr>
          <p:spPr>
            <a:xfrm>
              <a:off x="1685880" y="142092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54" name="Freeform 16"/>
            <p:cNvSpPr/>
            <p:nvPr/>
          </p:nvSpPr>
          <p:spPr>
            <a:xfrm>
              <a:off x="1685880" y="90324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55" name="Freeform 17"/>
            <p:cNvSpPr/>
            <p:nvPr/>
          </p:nvSpPr>
          <p:spPr>
            <a:xfrm>
              <a:off x="1743120" y="4680"/>
              <a:ext cx="418320" cy="521640"/>
            </a:xfrm>
            <a:custGeom>
              <a:avLst/>
              <a:gdLst>
                <a:gd name="textAreaLeft" fmla="*/ 0 w 418320"/>
                <a:gd name="textAreaRight" fmla="*/ 418680 w 418320"/>
                <a:gd name="textAreaTop" fmla="*/ 0 h 521640"/>
                <a:gd name="textAreaBottom" fmla="*/ 522000 h 521640"/>
              </a:gdLst>
              <a:ahLst/>
              <a:cxnLst/>
              <a:rect l="textAreaLeft" t="textAreaTop" r="textAreaRight" b="textAreaBottom"/>
              <a:pathLst>
                <a:path w="264" h="329">
                  <a:moveTo>
                    <a:pt x="252" y="329"/>
                  </a:moveTo>
                  <a:lnTo>
                    <a:pt x="45" y="120"/>
                  </a:lnTo>
                  <a:lnTo>
                    <a:pt x="0" y="6"/>
                  </a:lnTo>
                  <a:lnTo>
                    <a:pt x="15" y="0"/>
                  </a:lnTo>
                  <a:lnTo>
                    <a:pt x="60" y="111"/>
                  </a:lnTo>
                  <a:lnTo>
                    <a:pt x="264" y="317"/>
                  </a:lnTo>
                  <a:lnTo>
                    <a:pt x="252" y="329"/>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56" name="Freeform 18"/>
            <p:cNvSpPr/>
            <p:nvPr/>
          </p:nvSpPr>
          <p:spPr>
            <a:xfrm>
              <a:off x="2119320" y="488880"/>
              <a:ext cx="161280" cy="146880"/>
            </a:xfrm>
            <a:custGeom>
              <a:avLst/>
              <a:gdLst>
                <a:gd name="textAreaLeft" fmla="*/ 0 w 161280"/>
                <a:gd name="textAreaRight" fmla="*/ 161640 w 161280"/>
                <a:gd name="textAreaTop" fmla="*/ 0 h 146880"/>
                <a:gd name="textAreaBottom" fmla="*/ 147240 h 146880"/>
              </a:gdLst>
              <a:ahLst/>
              <a:cxn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57" name="Freeform 19"/>
            <p:cNvSpPr/>
            <p:nvPr/>
          </p:nvSpPr>
          <p:spPr>
            <a:xfrm>
              <a:off x="952560" y="4680"/>
              <a:ext cx="151560" cy="907200"/>
            </a:xfrm>
            <a:custGeom>
              <a:avLst/>
              <a:gdLst>
                <a:gd name="textAreaLeft" fmla="*/ 0 w 151560"/>
                <a:gd name="textAreaRight" fmla="*/ 151920 w 151560"/>
                <a:gd name="textAreaTop" fmla="*/ 0 h 907200"/>
                <a:gd name="textAreaBottom" fmla="*/ 907560 h 907200"/>
              </a:gdLst>
              <a:ahLst/>
              <a:cxnLst/>
              <a:rect l="textAreaLeft" t="textAreaTop" r="textAreaRight" b="textAreaBottom"/>
              <a:pathLst>
                <a:path w="96" h="572">
                  <a:moveTo>
                    <a:pt x="15" y="572"/>
                  </a:moveTo>
                  <a:lnTo>
                    <a:pt x="0" y="572"/>
                  </a:lnTo>
                  <a:lnTo>
                    <a:pt x="0" y="189"/>
                  </a:lnTo>
                  <a:lnTo>
                    <a:pt x="81" y="0"/>
                  </a:lnTo>
                  <a:lnTo>
                    <a:pt x="96" y="6"/>
                  </a:lnTo>
                  <a:lnTo>
                    <a:pt x="15" y="192"/>
                  </a:lnTo>
                  <a:lnTo>
                    <a:pt x="15" y="572"/>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58" name="Freeform 20"/>
            <p:cNvSpPr/>
            <p:nvPr/>
          </p:nvSpPr>
          <p:spPr>
            <a:xfrm>
              <a:off x="866880" y="90324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59" name="Freeform 21"/>
            <p:cNvSpPr/>
            <p:nvPr/>
          </p:nvSpPr>
          <p:spPr>
            <a:xfrm>
              <a:off x="890640" y="155412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60" name="Freeform 22"/>
            <p:cNvSpPr/>
            <p:nvPr/>
          </p:nvSpPr>
          <p:spPr>
            <a:xfrm>
              <a:off x="738360" y="5622840"/>
              <a:ext cx="337320" cy="1215360"/>
            </a:xfrm>
            <a:custGeom>
              <a:avLst/>
              <a:gdLst>
                <a:gd name="textAreaLeft" fmla="*/ 0 w 337320"/>
                <a:gd name="textAreaRight" fmla="*/ 337680 w 337320"/>
                <a:gd name="textAreaTop" fmla="*/ 0 h 1215360"/>
                <a:gd name="textAreaBottom" fmla="*/ 1215720 h 1215360"/>
              </a:gdLst>
              <a:ahLst/>
              <a:cxnLst/>
              <a:rect l="textAreaLeft" t="textAreaTop" r="textAreaRight" b="textAreaBottom"/>
              <a:pathLst>
                <a:path w="213" h="766">
                  <a:moveTo>
                    <a:pt x="213" y="766"/>
                  </a:moveTo>
                  <a:lnTo>
                    <a:pt x="195" y="766"/>
                  </a:lnTo>
                  <a:lnTo>
                    <a:pt x="195" y="464"/>
                  </a:lnTo>
                  <a:lnTo>
                    <a:pt x="0" y="6"/>
                  </a:lnTo>
                  <a:lnTo>
                    <a:pt x="12" y="0"/>
                  </a:lnTo>
                  <a:lnTo>
                    <a:pt x="213" y="461"/>
                  </a:lnTo>
                  <a:lnTo>
                    <a:pt x="213" y="766"/>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61" name="Freeform 23"/>
            <p:cNvSpPr/>
            <p:nvPr/>
          </p:nvSpPr>
          <p:spPr>
            <a:xfrm>
              <a:off x="647640" y="5479920"/>
              <a:ext cx="156600" cy="156600"/>
            </a:xfrm>
            <a:custGeom>
              <a:avLst/>
              <a:gdLst>
                <a:gd name="textAreaLeft" fmla="*/ 0 w 156600"/>
                <a:gd name="textAreaRight" fmla="*/ 156960 w 156600"/>
                <a:gd name="textAreaTop" fmla="*/ 0 h 156600"/>
                <a:gd name="textAreaBottom" fmla="*/ 156960 h 156600"/>
              </a:gdLst>
              <a:ahLst/>
              <a:cxnLst/>
              <a:rect l="textAreaLeft" t="textAreaTop" r="textAreaRight" b="textAreaBottom"/>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62" name="Freeform 24"/>
            <p:cNvSpPr/>
            <p:nvPr/>
          </p:nvSpPr>
          <p:spPr>
            <a:xfrm>
              <a:off x="66600" y="90324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63" name="Freeform 25"/>
            <p:cNvSpPr/>
            <p:nvPr/>
          </p:nvSpPr>
          <p:spPr>
            <a:xfrm>
              <a:off x="0" y="3897360"/>
              <a:ext cx="132480" cy="266040"/>
            </a:xfrm>
            <a:custGeom>
              <a:avLst/>
              <a:gdLst>
                <a:gd name="textAreaLeft" fmla="*/ 0 w 132480"/>
                <a:gd name="textAreaRight" fmla="*/ 132840 w 132480"/>
                <a:gd name="textAreaTop" fmla="*/ 0 h 266040"/>
                <a:gd name="textAreaBottom" fmla="*/ 266400 h 266040"/>
              </a:gdLst>
              <a:ahLst/>
              <a:cxnLst/>
              <a:rect l="textAreaLeft" t="textAreaTop" r="textAreaRight" b="textAreaBottom"/>
              <a:pathLst>
                <a:path w="84" h="168">
                  <a:moveTo>
                    <a:pt x="69" y="168"/>
                  </a:moveTo>
                  <a:lnTo>
                    <a:pt x="0" y="6"/>
                  </a:lnTo>
                  <a:lnTo>
                    <a:pt x="12" y="0"/>
                  </a:lnTo>
                  <a:lnTo>
                    <a:pt x="84" y="162"/>
                  </a:lnTo>
                  <a:lnTo>
                    <a:pt x="69" y="168"/>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64" name="Freeform 26"/>
            <p:cNvSpPr/>
            <p:nvPr/>
          </p:nvSpPr>
          <p:spPr>
            <a:xfrm>
              <a:off x="66600" y="4149720"/>
              <a:ext cx="189720" cy="188280"/>
            </a:xfrm>
            <a:custGeom>
              <a:avLst/>
              <a:gdLst>
                <a:gd name="textAreaLeft" fmla="*/ 0 w 189720"/>
                <a:gd name="textAreaRight" fmla="*/ 190080 w 189720"/>
                <a:gd name="textAreaTop" fmla="*/ 0 h 188280"/>
                <a:gd name="textAreaBottom" fmla="*/ 188640 h 1882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65" name="Freeform 27"/>
            <p:cNvSpPr/>
            <p:nvPr/>
          </p:nvSpPr>
          <p:spPr>
            <a:xfrm>
              <a:off x="0" y="1644480"/>
              <a:ext cx="132480" cy="269280"/>
            </a:xfrm>
            <a:custGeom>
              <a:avLst/>
              <a:gdLst>
                <a:gd name="textAreaLeft" fmla="*/ 0 w 132480"/>
                <a:gd name="textAreaRight" fmla="*/ 132840 w 132480"/>
                <a:gd name="textAreaTop" fmla="*/ 0 h 269280"/>
                <a:gd name="textAreaBottom" fmla="*/ 269640 h 269280"/>
              </a:gdLst>
              <a:ahLst/>
              <a:cxnLst/>
              <a:rect l="textAreaLeft" t="textAreaTop" r="textAreaRight" b="textAreaBottom"/>
              <a:pathLst>
                <a:path w="84" h="170">
                  <a:moveTo>
                    <a:pt x="12" y="170"/>
                  </a:moveTo>
                  <a:lnTo>
                    <a:pt x="0" y="164"/>
                  </a:lnTo>
                  <a:lnTo>
                    <a:pt x="69" y="0"/>
                  </a:lnTo>
                  <a:lnTo>
                    <a:pt x="84" y="6"/>
                  </a:lnTo>
                  <a:lnTo>
                    <a:pt x="12" y="170"/>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66" name="Freeform 28"/>
            <p:cNvSpPr/>
            <p:nvPr/>
          </p:nvSpPr>
          <p:spPr>
            <a:xfrm>
              <a:off x="66600" y="146844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67" name="Freeform 29"/>
            <p:cNvSpPr/>
            <p:nvPr/>
          </p:nvSpPr>
          <p:spPr>
            <a:xfrm>
              <a:off x="695160" y="4680"/>
              <a:ext cx="308880" cy="1558080"/>
            </a:xfrm>
            <a:custGeom>
              <a:avLst/>
              <a:gdLst>
                <a:gd name="textAreaLeft" fmla="*/ 0 w 308880"/>
                <a:gd name="textAreaRight" fmla="*/ 309240 w 308880"/>
                <a:gd name="textAreaTop" fmla="*/ 0 h 1558080"/>
                <a:gd name="textAreaBottom" fmla="*/ 1558440 h 1558080"/>
              </a:gdLst>
              <a:ahLst/>
              <a:cxnLst/>
              <a:rect l="textAreaLeft" t="textAreaTop" r="textAreaRight" b="textAreaBottom"/>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68" name="Freeform 30"/>
            <p:cNvSpPr/>
            <p:nvPr/>
          </p:nvSpPr>
          <p:spPr>
            <a:xfrm>
              <a:off x="57240" y="4881600"/>
              <a:ext cx="189720" cy="188280"/>
            </a:xfrm>
            <a:custGeom>
              <a:avLst/>
              <a:gdLst>
                <a:gd name="textAreaLeft" fmla="*/ 0 w 189720"/>
                <a:gd name="textAreaRight" fmla="*/ 190080 w 189720"/>
                <a:gd name="textAreaTop" fmla="*/ 0 h 188280"/>
                <a:gd name="textAreaBottom" fmla="*/ 188640 h 1882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69" name="Freeform 31"/>
            <p:cNvSpPr/>
            <p:nvPr/>
          </p:nvSpPr>
          <p:spPr>
            <a:xfrm>
              <a:off x="138240" y="5060880"/>
              <a:ext cx="304200" cy="1777320"/>
            </a:xfrm>
            <a:custGeom>
              <a:avLst/>
              <a:gdLst>
                <a:gd name="textAreaLeft" fmla="*/ 0 w 304200"/>
                <a:gd name="textAreaRight" fmla="*/ 304560 w 304200"/>
                <a:gd name="textAreaTop" fmla="*/ 0 h 1777320"/>
                <a:gd name="textAreaBottom" fmla="*/ 1777680 h 1777320"/>
              </a:gdLst>
              <a:ahLst/>
              <a:cxnLst/>
              <a:rect l="textAreaLeft" t="textAreaTop" r="textAreaRight" b="textAreaBottom"/>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70" name="Freeform 32"/>
            <p:cNvSpPr/>
            <p:nvPr/>
          </p:nvSpPr>
          <p:spPr>
            <a:xfrm>
              <a:off x="561960" y="6431040"/>
              <a:ext cx="189720" cy="188280"/>
            </a:xfrm>
            <a:custGeom>
              <a:avLst/>
              <a:gdLst>
                <a:gd name="textAreaLeft" fmla="*/ 0 w 189720"/>
                <a:gd name="textAreaRight" fmla="*/ 190080 w 189720"/>
                <a:gd name="textAreaTop" fmla="*/ 0 h 188280"/>
                <a:gd name="textAreaBottom" fmla="*/ 188640 h 1882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71" name="Rectangle 33"/>
            <p:cNvSpPr/>
            <p:nvPr/>
          </p:nvSpPr>
          <p:spPr>
            <a:xfrm>
              <a:off x="642960" y="6610320"/>
              <a:ext cx="23040" cy="242280"/>
            </a:xfrm>
            <a:prstGeom prst="rect">
              <a:avLst/>
            </a:pr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72" name="Freeform 34"/>
            <p:cNvSpPr/>
            <p:nvPr/>
          </p:nvSpPr>
          <p:spPr>
            <a:xfrm>
              <a:off x="76320" y="6431040"/>
              <a:ext cx="189720" cy="188280"/>
            </a:xfrm>
            <a:custGeom>
              <a:avLst/>
              <a:gdLst>
                <a:gd name="textAreaLeft" fmla="*/ 0 w 189720"/>
                <a:gd name="textAreaRight" fmla="*/ 190080 w 189720"/>
                <a:gd name="textAreaTop" fmla="*/ 0 h 188280"/>
                <a:gd name="textAreaBottom" fmla="*/ 188640 h 188280"/>
              </a:gdLst>
              <a:ahLst/>
              <a:cxnLst/>
              <a:rect l="textAreaLeft" t="textAreaTop" r="textAreaRight" b="textAreaBottom"/>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73" name="Freeform 35"/>
            <p:cNvSpPr/>
            <p:nvPr/>
          </p:nvSpPr>
          <p:spPr>
            <a:xfrm>
              <a:off x="0" y="5978520"/>
              <a:ext cx="189720" cy="461160"/>
            </a:xfrm>
            <a:custGeom>
              <a:avLst/>
              <a:gdLst>
                <a:gd name="textAreaLeft" fmla="*/ 0 w 189720"/>
                <a:gd name="textAreaRight" fmla="*/ 190080 w 189720"/>
                <a:gd name="textAreaTop" fmla="*/ 0 h 461160"/>
                <a:gd name="textAreaBottom" fmla="*/ 461520 h 461160"/>
              </a:gdLst>
              <a:ahLst/>
              <a:cxnLst/>
              <a:rect l="textAreaLeft" t="textAreaTop" r="textAreaRight" b="textAreaBottom"/>
              <a:pathLst>
                <a:path w="120" h="291">
                  <a:moveTo>
                    <a:pt x="120" y="291"/>
                  </a:moveTo>
                  <a:lnTo>
                    <a:pt x="105" y="291"/>
                  </a:lnTo>
                  <a:lnTo>
                    <a:pt x="105" y="114"/>
                  </a:lnTo>
                  <a:lnTo>
                    <a:pt x="0" y="9"/>
                  </a:lnTo>
                  <a:lnTo>
                    <a:pt x="12" y="0"/>
                  </a:lnTo>
                  <a:lnTo>
                    <a:pt x="120" y="108"/>
                  </a:lnTo>
                  <a:lnTo>
                    <a:pt x="120" y="291"/>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74" name="Freeform 36"/>
            <p:cNvSpPr/>
            <p:nvPr/>
          </p:nvSpPr>
          <p:spPr>
            <a:xfrm>
              <a:off x="1014480" y="1801800"/>
              <a:ext cx="213480" cy="754920"/>
            </a:xfrm>
            <a:custGeom>
              <a:avLst/>
              <a:gdLst>
                <a:gd name="textAreaLeft" fmla="*/ 0 w 213480"/>
                <a:gd name="textAreaRight" fmla="*/ 213840 w 213480"/>
                <a:gd name="textAreaTop" fmla="*/ 0 h 754920"/>
                <a:gd name="textAreaBottom" fmla="*/ 755280 h 754920"/>
              </a:gdLst>
              <a:ahLst/>
              <a:cxnLst/>
              <a:rect l="textAreaLeft" t="textAreaTop" r="textAreaRight" b="textAreaBottom"/>
              <a:pathLst>
                <a:path w="135" h="476">
                  <a:moveTo>
                    <a:pt x="12" y="476"/>
                  </a:moveTo>
                  <a:lnTo>
                    <a:pt x="0" y="476"/>
                  </a:lnTo>
                  <a:lnTo>
                    <a:pt x="0" y="128"/>
                  </a:lnTo>
                  <a:lnTo>
                    <a:pt x="126" y="0"/>
                  </a:lnTo>
                  <a:lnTo>
                    <a:pt x="135" y="9"/>
                  </a:lnTo>
                  <a:lnTo>
                    <a:pt x="12" y="131"/>
                  </a:lnTo>
                  <a:lnTo>
                    <a:pt x="12" y="476"/>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75" name="Freeform 37"/>
            <p:cNvSpPr/>
            <p:nvPr/>
          </p:nvSpPr>
          <p:spPr>
            <a:xfrm>
              <a:off x="938160" y="2548080"/>
              <a:ext cx="165960" cy="159480"/>
            </a:xfrm>
            <a:custGeom>
              <a:avLst/>
              <a:gdLst>
                <a:gd name="textAreaLeft" fmla="*/ 0 w 165960"/>
                <a:gd name="textAreaRight" fmla="*/ 166320 w 165960"/>
                <a:gd name="textAreaTop" fmla="*/ 0 h 159480"/>
                <a:gd name="textAreaBottom" fmla="*/ 159840 h 159480"/>
              </a:gdLst>
              <a:ahLst/>
              <a:cxnLst/>
              <a:rect l="textAreaLeft" t="textAreaTop" r="textAreaRight" b="textAreaBottom"/>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76" name="Freeform 38"/>
            <p:cNvSpPr/>
            <p:nvPr/>
          </p:nvSpPr>
          <p:spPr>
            <a:xfrm>
              <a:off x="595440" y="4680"/>
              <a:ext cx="637560" cy="4025160"/>
            </a:xfrm>
            <a:custGeom>
              <a:avLst/>
              <a:gdLst>
                <a:gd name="textAreaLeft" fmla="*/ 0 w 637560"/>
                <a:gd name="textAreaRight" fmla="*/ 637920 w 637560"/>
                <a:gd name="textAreaTop" fmla="*/ 0 h 4025160"/>
                <a:gd name="textAreaBottom" fmla="*/ 4025520 h 4025160"/>
              </a:gdLst>
              <a:ahLst/>
              <a:cxnLst/>
              <a:rect l="textAreaLeft" t="textAreaTop" r="textAreaRight" b="textAreaBottom"/>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77" name="Freeform 39"/>
            <p:cNvSpPr/>
            <p:nvPr/>
          </p:nvSpPr>
          <p:spPr>
            <a:xfrm>
              <a:off x="1224000" y="1382760"/>
              <a:ext cx="142200" cy="475560"/>
            </a:xfrm>
            <a:custGeom>
              <a:avLst/>
              <a:gdLst>
                <a:gd name="textAreaLeft" fmla="*/ 0 w 142200"/>
                <a:gd name="textAreaRight" fmla="*/ 142560 w 142200"/>
                <a:gd name="textAreaTop" fmla="*/ 0 h 475560"/>
                <a:gd name="textAreaBottom" fmla="*/ 475920 h 475560"/>
              </a:gdLst>
              <a:ahLst/>
              <a:cxn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78" name="Freeform 40"/>
            <p:cNvSpPr/>
            <p:nvPr/>
          </p:nvSpPr>
          <p:spPr>
            <a:xfrm>
              <a:off x="1300320" y="1849320"/>
              <a:ext cx="108720" cy="107280"/>
            </a:xfrm>
            <a:custGeom>
              <a:avLst/>
              <a:gdLst>
                <a:gd name="textAreaLeft" fmla="*/ 0 w 108720"/>
                <a:gd name="textAreaRight" fmla="*/ 109080 w 108720"/>
                <a:gd name="textAreaTop" fmla="*/ 0 h 107280"/>
                <a:gd name="textAreaBottom" fmla="*/ 107640 h 107280"/>
              </a:gdLst>
              <a:ahLst/>
              <a:cxnLst/>
              <a:rect l="textAreaLeft" t="textAreaTop" r="textAreaRight" b="textAreaBottom"/>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79" name="Freeform 41"/>
            <p:cNvSpPr/>
            <p:nvPr/>
          </p:nvSpPr>
          <p:spPr>
            <a:xfrm>
              <a:off x="281160" y="3417840"/>
              <a:ext cx="142200" cy="474120"/>
            </a:xfrm>
            <a:custGeom>
              <a:avLst/>
              <a:gdLst>
                <a:gd name="textAreaLeft" fmla="*/ 0 w 142200"/>
                <a:gd name="textAreaRight" fmla="*/ 142560 w 142200"/>
                <a:gd name="textAreaTop" fmla="*/ 0 h 474120"/>
                <a:gd name="textAreaBottom" fmla="*/ 474480 h 474120"/>
              </a:gdLst>
              <a:ahLst/>
              <a:cxnLst/>
              <a:rect l="textAreaLeft" t="textAreaTop" r="textAreaRight" b="textAreaBottom"/>
              <a:pathLst>
                <a:path w="90" h="299">
                  <a:moveTo>
                    <a:pt x="12" y="299"/>
                  </a:moveTo>
                  <a:lnTo>
                    <a:pt x="0" y="299"/>
                  </a:lnTo>
                  <a:lnTo>
                    <a:pt x="0" y="80"/>
                  </a:lnTo>
                  <a:lnTo>
                    <a:pt x="81" y="0"/>
                  </a:lnTo>
                  <a:lnTo>
                    <a:pt x="90" y="8"/>
                  </a:lnTo>
                  <a:lnTo>
                    <a:pt x="12" y="83"/>
                  </a:lnTo>
                  <a:lnTo>
                    <a:pt x="12" y="299"/>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80" name="Freeform 42"/>
            <p:cNvSpPr/>
            <p:nvPr/>
          </p:nvSpPr>
          <p:spPr>
            <a:xfrm>
              <a:off x="237960" y="3882960"/>
              <a:ext cx="108720" cy="108720"/>
            </a:xfrm>
            <a:custGeom>
              <a:avLst/>
              <a:gdLst>
                <a:gd name="textAreaLeft" fmla="*/ 0 w 108720"/>
                <a:gd name="textAreaRight" fmla="*/ 109080 w 108720"/>
                <a:gd name="textAreaTop" fmla="*/ 0 h 108720"/>
                <a:gd name="textAreaBottom" fmla="*/ 109080 h 108720"/>
              </a:gdLst>
              <a:ahLst/>
              <a:cxnLst/>
              <a:rect l="textAreaLeft" t="textAreaTop" r="textAreaRight" b="textAreaBottom"/>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81" name="Freeform 43"/>
            <p:cNvSpPr/>
            <p:nvPr/>
          </p:nvSpPr>
          <p:spPr>
            <a:xfrm>
              <a:off x="4680" y="2166840"/>
              <a:ext cx="113760" cy="451800"/>
            </a:xfrm>
            <a:custGeom>
              <a:avLst/>
              <a:gdLst>
                <a:gd name="textAreaLeft" fmla="*/ 0 w 113760"/>
                <a:gd name="textAreaRight" fmla="*/ 114120 w 113760"/>
                <a:gd name="textAreaTop" fmla="*/ 0 h 451800"/>
                <a:gd name="textAreaBottom" fmla="*/ 452160 h 451800"/>
              </a:gdLst>
              <a:ahLst/>
              <a:cxnLst/>
              <a:rect l="textAreaLeft" t="textAreaTop" r="textAreaRight" b="textAreaBottom"/>
              <a:pathLst>
                <a:path w="72" h="285">
                  <a:moveTo>
                    <a:pt x="6" y="285"/>
                  </a:moveTo>
                  <a:lnTo>
                    <a:pt x="0" y="276"/>
                  </a:lnTo>
                  <a:lnTo>
                    <a:pt x="60" y="216"/>
                  </a:lnTo>
                  <a:lnTo>
                    <a:pt x="60" y="0"/>
                  </a:lnTo>
                  <a:lnTo>
                    <a:pt x="72" y="0"/>
                  </a:lnTo>
                  <a:lnTo>
                    <a:pt x="72" y="222"/>
                  </a:lnTo>
                  <a:lnTo>
                    <a:pt x="6" y="285"/>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82" name="Freeform 44"/>
            <p:cNvSpPr/>
            <p:nvPr/>
          </p:nvSpPr>
          <p:spPr>
            <a:xfrm>
              <a:off x="52560" y="2066760"/>
              <a:ext cx="108720" cy="108720"/>
            </a:xfrm>
            <a:custGeom>
              <a:avLst/>
              <a:gdLst>
                <a:gd name="textAreaLeft" fmla="*/ 0 w 108720"/>
                <a:gd name="textAreaRight" fmla="*/ 109080 w 108720"/>
                <a:gd name="textAreaTop" fmla="*/ 0 h 108720"/>
                <a:gd name="textAreaBottom" fmla="*/ 109080 h 108720"/>
              </a:gdLst>
              <a:ahLst/>
              <a:cxnLst/>
              <a:rect l="textAreaLeft" t="textAreaTop" r="textAreaRight" b="textAreaBottom"/>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83" name="Rectangle 45"/>
            <p:cNvSpPr/>
            <p:nvPr/>
          </p:nvSpPr>
          <p:spPr>
            <a:xfrm>
              <a:off x="1228680" y="4662360"/>
              <a:ext cx="23040" cy="2180520"/>
            </a:xfrm>
            <a:prstGeom prst="rect">
              <a:avLst/>
            </a:pr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84" name="Freeform 46"/>
            <p:cNvSpPr/>
            <p:nvPr/>
          </p:nvSpPr>
          <p:spPr>
            <a:xfrm>
              <a:off x="1319040" y="5041800"/>
              <a:ext cx="370800" cy="1801080"/>
            </a:xfrm>
            <a:custGeom>
              <a:avLst/>
              <a:gdLst>
                <a:gd name="textAreaLeft" fmla="*/ 0 w 370800"/>
                <a:gd name="textAreaRight" fmla="*/ 371160 w 370800"/>
                <a:gd name="textAreaTop" fmla="*/ 0 h 1801080"/>
                <a:gd name="textAreaBottom" fmla="*/ 1801440 h 1801080"/>
              </a:gdLst>
              <a:ahLst/>
              <a:cxnLst/>
              <a:rect l="textAreaLeft" t="textAreaTop" r="textAreaRight" b="textAreaBottom"/>
              <a:pathLst>
                <a:path w="234" h="1135">
                  <a:moveTo>
                    <a:pt x="15" y="1135"/>
                  </a:moveTo>
                  <a:lnTo>
                    <a:pt x="0" y="1135"/>
                  </a:lnTo>
                  <a:lnTo>
                    <a:pt x="0" y="515"/>
                  </a:lnTo>
                  <a:lnTo>
                    <a:pt x="0" y="512"/>
                  </a:lnTo>
                  <a:lnTo>
                    <a:pt x="219" y="0"/>
                  </a:lnTo>
                  <a:lnTo>
                    <a:pt x="234" y="6"/>
                  </a:lnTo>
                  <a:lnTo>
                    <a:pt x="15" y="518"/>
                  </a:lnTo>
                  <a:lnTo>
                    <a:pt x="15" y="1135"/>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85" name="Freeform 47"/>
            <p:cNvSpPr/>
            <p:nvPr/>
          </p:nvSpPr>
          <p:spPr>
            <a:xfrm>
              <a:off x="1147680" y="448164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86" name="Freeform 48"/>
            <p:cNvSpPr/>
            <p:nvPr/>
          </p:nvSpPr>
          <p:spPr>
            <a:xfrm>
              <a:off x="819000" y="3983040"/>
              <a:ext cx="347040" cy="2859840"/>
            </a:xfrm>
            <a:custGeom>
              <a:avLst/>
              <a:gdLst>
                <a:gd name="textAreaLeft" fmla="*/ 0 w 347040"/>
                <a:gd name="textAreaRight" fmla="*/ 347400 w 347040"/>
                <a:gd name="textAreaTop" fmla="*/ 0 h 2859840"/>
                <a:gd name="textAreaBottom" fmla="*/ 2860200 h 2859840"/>
              </a:gdLst>
              <a:ahLst/>
              <a:cxnLst/>
              <a:rect l="textAreaLeft" t="textAreaTop" r="textAreaRight" b="textAreaBottom"/>
              <a:pathLst>
                <a:path w="219" h="1802">
                  <a:moveTo>
                    <a:pt x="219" y="1802"/>
                  </a:moveTo>
                  <a:lnTo>
                    <a:pt x="201" y="1802"/>
                  </a:lnTo>
                  <a:lnTo>
                    <a:pt x="201" y="1185"/>
                  </a:lnTo>
                  <a:lnTo>
                    <a:pt x="0" y="3"/>
                  </a:lnTo>
                  <a:lnTo>
                    <a:pt x="15" y="0"/>
                  </a:lnTo>
                  <a:lnTo>
                    <a:pt x="219" y="1185"/>
                  </a:lnTo>
                  <a:lnTo>
                    <a:pt x="219" y="1802"/>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87" name="Freeform 49"/>
            <p:cNvSpPr/>
            <p:nvPr/>
          </p:nvSpPr>
          <p:spPr>
            <a:xfrm>
              <a:off x="728640" y="380700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88" name="Freeform 50"/>
            <p:cNvSpPr/>
            <p:nvPr/>
          </p:nvSpPr>
          <p:spPr>
            <a:xfrm>
              <a:off x="1623960" y="4867200"/>
              <a:ext cx="189720" cy="188280"/>
            </a:xfrm>
            <a:custGeom>
              <a:avLst/>
              <a:gdLst>
                <a:gd name="textAreaLeft" fmla="*/ 0 w 189720"/>
                <a:gd name="textAreaRight" fmla="*/ 190080 w 189720"/>
                <a:gd name="textAreaTop" fmla="*/ 0 h 188280"/>
                <a:gd name="textAreaBottom" fmla="*/ 188640 h 1882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89" name="Freeform 51"/>
            <p:cNvSpPr/>
            <p:nvPr/>
          </p:nvSpPr>
          <p:spPr>
            <a:xfrm>
              <a:off x="1405080" y="5423040"/>
              <a:ext cx="370800" cy="1424880"/>
            </a:xfrm>
            <a:custGeom>
              <a:avLst/>
              <a:gdLst>
                <a:gd name="textAreaLeft" fmla="*/ 0 w 370800"/>
                <a:gd name="textAreaRight" fmla="*/ 371160 w 370800"/>
                <a:gd name="textAreaTop" fmla="*/ 0 h 1424880"/>
                <a:gd name="textAreaBottom" fmla="*/ 1425240 h 1424880"/>
              </a:gdLst>
              <a:ahLst/>
              <a:cxnLst/>
              <a:rect l="textAreaLeft" t="textAreaTop" r="textAreaRight" b="textAreaBottom"/>
              <a:pathLst>
                <a:path w="234" h="898">
                  <a:moveTo>
                    <a:pt x="18" y="898"/>
                  </a:moveTo>
                  <a:lnTo>
                    <a:pt x="0" y="898"/>
                  </a:lnTo>
                  <a:lnTo>
                    <a:pt x="0" y="515"/>
                  </a:lnTo>
                  <a:lnTo>
                    <a:pt x="0" y="512"/>
                  </a:lnTo>
                  <a:lnTo>
                    <a:pt x="222" y="0"/>
                  </a:lnTo>
                  <a:lnTo>
                    <a:pt x="234" y="6"/>
                  </a:lnTo>
                  <a:lnTo>
                    <a:pt x="18" y="518"/>
                  </a:lnTo>
                  <a:lnTo>
                    <a:pt x="18" y="898"/>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90" name="Freeform 52"/>
            <p:cNvSpPr/>
            <p:nvPr/>
          </p:nvSpPr>
          <p:spPr>
            <a:xfrm>
              <a:off x="1666800" y="5945040"/>
              <a:ext cx="151560" cy="912240"/>
            </a:xfrm>
            <a:custGeom>
              <a:avLst/>
              <a:gdLst>
                <a:gd name="textAreaLeft" fmla="*/ 0 w 151560"/>
                <a:gd name="textAreaRight" fmla="*/ 151920 w 151560"/>
                <a:gd name="textAreaTop" fmla="*/ 0 h 912240"/>
                <a:gd name="textAreaBottom" fmla="*/ 912600 h 912240"/>
              </a:gdLst>
              <a:ahLst/>
              <a:cxn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91" name="Freeform 53"/>
            <p:cNvSpPr/>
            <p:nvPr/>
          </p:nvSpPr>
          <p:spPr>
            <a:xfrm>
              <a:off x="1709640" y="524664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92" name="Freeform 54"/>
            <p:cNvSpPr/>
            <p:nvPr/>
          </p:nvSpPr>
          <p:spPr>
            <a:xfrm>
              <a:off x="1709640" y="576432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93" name="Freeform 55"/>
            <p:cNvSpPr/>
            <p:nvPr/>
          </p:nvSpPr>
          <p:spPr>
            <a:xfrm>
              <a:off x="1766880" y="6330960"/>
              <a:ext cx="418320" cy="526320"/>
            </a:xfrm>
            <a:custGeom>
              <a:avLst/>
              <a:gdLst>
                <a:gd name="textAreaLeft" fmla="*/ 0 w 418320"/>
                <a:gd name="textAreaRight" fmla="*/ 418680 w 418320"/>
                <a:gd name="textAreaTop" fmla="*/ 0 h 526320"/>
                <a:gd name="textAreaBottom" fmla="*/ 526680 h 526320"/>
              </a:gdLst>
              <a:ahLst/>
              <a:cxnLst/>
              <a:rect l="textAreaLeft" t="textAreaTop" r="textAreaRight" b="textAreaBottom"/>
              <a:pathLst>
                <a:path w="264" h="332">
                  <a:moveTo>
                    <a:pt x="12" y="332"/>
                  </a:moveTo>
                  <a:lnTo>
                    <a:pt x="0" y="326"/>
                  </a:lnTo>
                  <a:lnTo>
                    <a:pt x="45" y="206"/>
                  </a:lnTo>
                  <a:lnTo>
                    <a:pt x="255" y="0"/>
                  </a:lnTo>
                  <a:lnTo>
                    <a:pt x="264" y="12"/>
                  </a:lnTo>
                  <a:lnTo>
                    <a:pt x="60" y="215"/>
                  </a:lnTo>
                  <a:lnTo>
                    <a:pt x="12" y="332"/>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94" name="Freeform 56"/>
            <p:cNvSpPr/>
            <p:nvPr/>
          </p:nvSpPr>
          <p:spPr>
            <a:xfrm>
              <a:off x="2147760" y="6221520"/>
              <a:ext cx="156600" cy="146880"/>
            </a:xfrm>
            <a:custGeom>
              <a:avLst/>
              <a:gdLst>
                <a:gd name="textAreaLeft" fmla="*/ 0 w 156600"/>
                <a:gd name="textAreaRight" fmla="*/ 156960 w 156600"/>
                <a:gd name="textAreaTop" fmla="*/ 0 h 146880"/>
                <a:gd name="textAreaBottom" fmla="*/ 147240 h 146880"/>
              </a:gdLst>
              <a:ahLst/>
              <a:cxn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95" name="Freeform 57"/>
            <p:cNvSpPr/>
            <p:nvPr/>
          </p:nvSpPr>
          <p:spPr>
            <a:xfrm>
              <a:off x="504720" y="9360"/>
              <a:ext cx="232560" cy="5103000"/>
            </a:xfrm>
            <a:custGeom>
              <a:avLst/>
              <a:gdLst>
                <a:gd name="textAreaLeft" fmla="*/ 0 w 232560"/>
                <a:gd name="textAreaRight" fmla="*/ 232920 w 232560"/>
                <a:gd name="textAreaTop" fmla="*/ 0 h 5103000"/>
                <a:gd name="textAreaBottom" fmla="*/ 5103360 h 5103000"/>
              </a:gdLst>
              <a:ahLst/>
              <a:cxnLst/>
              <a:rect l="textAreaLeft" t="textAreaTop" r="textAreaRight" b="textAreaBottom"/>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96" name="Freeform 58"/>
            <p:cNvSpPr/>
            <p:nvPr/>
          </p:nvSpPr>
          <p:spPr>
            <a:xfrm>
              <a:off x="633240" y="5103720"/>
              <a:ext cx="185040" cy="185040"/>
            </a:xfrm>
            <a:custGeom>
              <a:avLst/>
              <a:gdLst>
                <a:gd name="textAreaLeft" fmla="*/ 0 w 185040"/>
                <a:gd name="textAreaRight" fmla="*/ 185400 w 185040"/>
                <a:gd name="textAreaTop" fmla="*/ 0 h 185040"/>
                <a:gd name="textAreaBottom" fmla="*/ 185400 h 185040"/>
              </a:gdLst>
              <a:ahLst/>
              <a:cxnLst/>
              <a:rect l="textAreaLeft" t="textAreaTop" r="textAreaRight" b="textAreaBottom"/>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grpSp>
      <p:sp>
        <p:nvSpPr>
          <p:cNvPr id="97" name="PlaceHolder 1"/>
          <p:cNvSpPr>
            <a:spLocks noGrp="1"/>
          </p:cNvSpPr>
          <p:nvPr>
            <p:ph type="title"/>
          </p:nvPr>
        </p:nvSpPr>
        <p:spPr>
          <a:xfrm>
            <a:off x="1141560" y="618480"/>
            <a:ext cx="9905400" cy="1477800"/>
          </a:xfrm>
          <a:prstGeom prst="rect">
            <a:avLst/>
          </a:prstGeom>
          <a:noFill/>
          <a:ln w="0">
            <a:noFill/>
          </a:ln>
        </p:spPr>
        <p:txBody>
          <a:bodyPr lIns="0" tIns="0" rIns="0" bIns="0" anchor="ctr">
            <a:noAutofit/>
          </a:bodyPr>
          <a:lstStyle/>
          <a:p>
            <a:pPr indent="0">
              <a:buNone/>
            </a:pPr>
            <a:r>
              <a:rPr lang="en-US" sz="4400" b="0" strike="noStrike" spc="-1">
                <a:solidFill>
                  <a:srgbClr val="000000"/>
                </a:solidFill>
                <a:latin typeface="Arial"/>
              </a:rPr>
              <a:t>Click to edit the title text format</a:t>
            </a:r>
          </a:p>
        </p:txBody>
      </p:sp>
      <p:sp>
        <p:nvSpPr>
          <p:cNvPr id="98"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FFFFFF"/>
              </a:buClr>
              <a:buSzPct val="45000"/>
              <a:buFont typeface="Wingdings" charset="2"/>
              <a:buChar char=""/>
            </a:pPr>
            <a:r>
              <a:rPr lang="en-US" sz="2800" b="0" strike="noStrike" spc="-1">
                <a:solidFill>
                  <a:srgbClr val="000000"/>
                </a:solidFill>
                <a:latin typeface="Arial"/>
              </a:rPr>
              <a:t>Click to edit the outline text format</a:t>
            </a:r>
          </a:p>
          <a:p>
            <a:pPr marL="864000" lvl="1" indent="-324000">
              <a:lnSpc>
                <a:spcPct val="90000"/>
              </a:lnSpc>
              <a:spcBef>
                <a:spcPts val="1134"/>
              </a:spcBef>
              <a:buClr>
                <a:srgbClr val="FFFFFF"/>
              </a:buClr>
              <a:buSzPct val="75000"/>
              <a:buFont typeface="Symbol" charset="2"/>
              <a:buChar char=""/>
            </a:pPr>
            <a:r>
              <a:rPr lang="en-US" sz="2000" b="0" strike="noStrike" spc="-1">
                <a:solidFill>
                  <a:srgbClr val="000000"/>
                </a:solidFill>
                <a:latin typeface="Arial"/>
              </a:rPr>
              <a:t>Second Outline Level</a:t>
            </a:r>
          </a:p>
          <a:p>
            <a:pPr marL="1296000" lvl="2" indent="-288000">
              <a:lnSpc>
                <a:spcPct val="90000"/>
              </a:lnSpc>
              <a:spcBef>
                <a:spcPts val="850"/>
              </a:spcBef>
              <a:buClr>
                <a:srgbClr val="FFFFFF"/>
              </a:buClr>
              <a:buSzPct val="45000"/>
              <a:buFont typeface="Wingdings" charset="2"/>
              <a:buChar char=""/>
            </a:pPr>
            <a:r>
              <a:rPr lang="en-US" sz="1800" b="0" strike="noStrike" spc="-1">
                <a:solidFill>
                  <a:srgbClr val="000000"/>
                </a:solidFill>
                <a:latin typeface="Arial"/>
              </a:rPr>
              <a:t>Third Outline Level</a:t>
            </a:r>
          </a:p>
          <a:p>
            <a:pPr marL="1728000" lvl="3" indent="-216000">
              <a:lnSpc>
                <a:spcPct val="90000"/>
              </a:lnSpc>
              <a:spcBef>
                <a:spcPts val="567"/>
              </a:spcBef>
              <a:buClr>
                <a:srgbClr val="FFFFFF"/>
              </a:buClr>
              <a:buSzPct val="75000"/>
              <a:buFont typeface="Symbol" charset="2"/>
              <a:buChar char=""/>
            </a:pPr>
            <a:r>
              <a:rPr lang="en-US" sz="1800" b="0" strike="noStrike" spc="-1">
                <a:solidFill>
                  <a:srgbClr val="000000"/>
                </a:solidFill>
                <a:latin typeface="Arial"/>
              </a:rPr>
              <a:t>Fourth Outline Level</a:t>
            </a:r>
          </a:p>
          <a:p>
            <a:pPr marL="2160000" lvl="4" indent="-216000">
              <a:lnSpc>
                <a:spcPct val="90000"/>
              </a:lnSpc>
              <a:spcBef>
                <a:spcPts val="283"/>
              </a:spcBef>
              <a:buClr>
                <a:srgbClr val="FFFFFF"/>
              </a:buClr>
              <a:buSzPct val="45000"/>
              <a:buFont typeface="Wingdings" charset="2"/>
              <a:buChar char=""/>
            </a:pPr>
            <a:r>
              <a:rPr lang="en-US" sz="2000" b="0" strike="noStrike" spc="-1">
                <a:solidFill>
                  <a:srgbClr val="000000"/>
                </a:solidFill>
                <a:latin typeface="Arial"/>
              </a:rPr>
              <a:t>Fifth Outline Level</a:t>
            </a:r>
          </a:p>
          <a:p>
            <a:pPr marL="2592000" lvl="5" indent="-216000">
              <a:lnSpc>
                <a:spcPct val="90000"/>
              </a:lnSpc>
              <a:spcBef>
                <a:spcPts val="283"/>
              </a:spcBef>
              <a:buClr>
                <a:srgbClr val="FFFFFF"/>
              </a:buClr>
              <a:buSzPct val="45000"/>
              <a:buFont typeface="Wingdings" charset="2"/>
              <a:buChar char=""/>
            </a:pPr>
            <a:r>
              <a:rPr lang="en-US" sz="2000" b="0" strike="noStrike" spc="-1">
                <a:solidFill>
                  <a:srgbClr val="000000"/>
                </a:solidFill>
                <a:latin typeface="Arial"/>
              </a:rPr>
              <a:t>Sixth Outline Level</a:t>
            </a:r>
          </a:p>
          <a:p>
            <a:pPr marL="3024000" lvl="6" indent="-216000">
              <a:lnSpc>
                <a:spcPct val="90000"/>
              </a:lnSpc>
              <a:spcBef>
                <a:spcPts val="283"/>
              </a:spcBef>
              <a:buClr>
                <a:srgbClr val="FFFFFF"/>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blipFill>
        <a:effectLst/>
      </p:bgPr>
    </p:bg>
    <p:spTree>
      <p:nvGrpSpPr>
        <p:cNvPr id="1" name=""/>
        <p:cNvGrpSpPr/>
        <p:nvPr/>
      </p:nvGrpSpPr>
      <p:grpSpPr>
        <a:xfrm>
          <a:off x="0" y="0"/>
          <a:ext cx="0" cy="0"/>
          <a:chOff x="0" y="0"/>
          <a:chExt cx="0" cy="0"/>
        </a:xfrm>
      </p:grpSpPr>
      <p:pic>
        <p:nvPicPr>
          <p:cNvPr id="135" name="Picture 2" descr="\\DROBO-FS\QuickDrops\JB\PPTX NG\Droplets\LightingOverlay.png"/>
          <p:cNvPicPr/>
          <p:nvPr/>
        </p:nvPicPr>
        <p:blipFill>
          <a:blip r:embed="rId15">
            <a:alphaModFix amt="30000"/>
          </a:blip>
          <a:stretch/>
        </p:blipFill>
        <p:spPr>
          <a:xfrm>
            <a:off x="0" y="0"/>
            <a:ext cx="12191400" cy="6857280"/>
          </a:xfrm>
          <a:prstGeom prst="rect">
            <a:avLst/>
          </a:prstGeom>
          <a:ln w="0">
            <a:noFill/>
          </a:ln>
        </p:spPr>
      </p:pic>
      <p:grpSp>
        <p:nvGrpSpPr>
          <p:cNvPr id="136" name="Group 7"/>
          <p:cNvGrpSpPr/>
          <p:nvPr/>
        </p:nvGrpSpPr>
        <p:grpSpPr>
          <a:xfrm>
            <a:off x="-14400" y="0"/>
            <a:ext cx="12053160" cy="6857280"/>
            <a:chOff x="-14400" y="0"/>
            <a:chExt cx="12053160" cy="6857280"/>
          </a:xfrm>
        </p:grpSpPr>
        <p:grpSp>
          <p:nvGrpSpPr>
            <p:cNvPr id="137" name="Group 8"/>
            <p:cNvGrpSpPr/>
            <p:nvPr/>
          </p:nvGrpSpPr>
          <p:grpSpPr>
            <a:xfrm>
              <a:off x="-14400" y="0"/>
              <a:ext cx="1220400" cy="6857280"/>
              <a:chOff x="-14400" y="0"/>
              <a:chExt cx="1220400" cy="6857280"/>
            </a:xfrm>
          </p:grpSpPr>
          <p:sp>
            <p:nvSpPr>
              <p:cNvPr id="138" name="Rectangle 5"/>
              <p:cNvSpPr/>
              <p:nvPr/>
            </p:nvSpPr>
            <p:spPr>
              <a:xfrm>
                <a:off x="114480" y="4680"/>
                <a:ext cx="23040" cy="2180520"/>
              </a:xfrm>
              <a:prstGeom prst="rect">
                <a:avLst/>
              </a:pr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39" name="Freeform 6"/>
              <p:cNvSpPr/>
              <p:nvPr/>
            </p:nvSpPr>
            <p:spPr>
              <a:xfrm>
                <a:off x="33480" y="217656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40" name="Freeform 7"/>
              <p:cNvSpPr/>
              <p:nvPr/>
            </p:nvSpPr>
            <p:spPr>
              <a:xfrm>
                <a:off x="28440" y="4021200"/>
                <a:ext cx="189720" cy="188280"/>
              </a:xfrm>
              <a:custGeom>
                <a:avLst/>
                <a:gdLst>
                  <a:gd name="textAreaLeft" fmla="*/ 0 w 189720"/>
                  <a:gd name="textAreaRight" fmla="*/ 190080 w 189720"/>
                  <a:gd name="textAreaTop" fmla="*/ 0 h 188280"/>
                  <a:gd name="textAreaBottom" fmla="*/ 188640 h 1882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41" name="Freeform 8"/>
              <p:cNvSpPr/>
              <p:nvPr/>
            </p:nvSpPr>
            <p:spPr>
              <a:xfrm>
                <a:off x="200160" y="4680"/>
                <a:ext cx="369000" cy="1810440"/>
              </a:xfrm>
              <a:custGeom>
                <a:avLst/>
                <a:gdLst>
                  <a:gd name="textAreaLeft" fmla="*/ 0 w 369000"/>
                  <a:gd name="textAreaRight" fmla="*/ 369360 w 369000"/>
                  <a:gd name="textAreaTop" fmla="*/ 0 h 1810440"/>
                  <a:gd name="textAreaBottom" fmla="*/ 1810800 h 1810440"/>
                </a:gdLst>
                <a:ahLst/>
                <a:cxn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42" name="Freeform 9"/>
              <p:cNvSpPr/>
              <p:nvPr/>
            </p:nvSpPr>
            <p:spPr>
              <a:xfrm>
                <a:off x="503280" y="1801800"/>
                <a:ext cx="189720" cy="188280"/>
              </a:xfrm>
              <a:custGeom>
                <a:avLst/>
                <a:gdLst>
                  <a:gd name="textAreaLeft" fmla="*/ 0 w 189720"/>
                  <a:gd name="textAreaRight" fmla="*/ 190080 w 189720"/>
                  <a:gd name="textAreaTop" fmla="*/ 0 h 188280"/>
                  <a:gd name="textAreaBottom" fmla="*/ 188640 h 18828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43" name="Freeform 10"/>
              <p:cNvSpPr/>
              <p:nvPr/>
            </p:nvSpPr>
            <p:spPr>
              <a:xfrm>
                <a:off x="285840" y="4680"/>
                <a:ext cx="369000" cy="1429560"/>
              </a:xfrm>
              <a:custGeom>
                <a:avLst/>
                <a:gdLst>
                  <a:gd name="textAreaLeft" fmla="*/ 0 w 369000"/>
                  <a:gd name="textAreaRight" fmla="*/ 369360 w 369000"/>
                  <a:gd name="textAreaTop" fmla="*/ 0 h 1429560"/>
                  <a:gd name="textAreaBottom" fmla="*/ 1429920 h 1429560"/>
                </a:gdLst>
                <a:ahLst/>
                <a:cxn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44" name="Freeform 11"/>
              <p:cNvSpPr/>
              <p:nvPr/>
            </p:nvSpPr>
            <p:spPr>
              <a:xfrm>
                <a:off x="546120" y="0"/>
                <a:ext cx="151560" cy="912240"/>
              </a:xfrm>
              <a:custGeom>
                <a:avLst/>
                <a:gdLst>
                  <a:gd name="textAreaLeft" fmla="*/ 0 w 151560"/>
                  <a:gd name="textAreaRight" fmla="*/ 151920 w 151560"/>
                  <a:gd name="textAreaTop" fmla="*/ 0 h 912240"/>
                  <a:gd name="textAreaBottom" fmla="*/ 912600 h 912240"/>
                </a:gdLst>
                <a:ahLst/>
                <a:cxn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45" name="Freeform 12"/>
              <p:cNvSpPr/>
              <p:nvPr/>
            </p:nvSpPr>
            <p:spPr>
              <a:xfrm>
                <a:off x="588960" y="142092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46" name="Freeform 13"/>
              <p:cNvSpPr/>
              <p:nvPr/>
            </p:nvSpPr>
            <p:spPr>
              <a:xfrm>
                <a:off x="588960" y="90324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47" name="Freeform 14"/>
              <p:cNvSpPr/>
              <p:nvPr/>
            </p:nvSpPr>
            <p:spPr>
              <a:xfrm>
                <a:off x="641520" y="0"/>
                <a:ext cx="421560" cy="526320"/>
              </a:xfrm>
              <a:custGeom>
                <a:avLst/>
                <a:gdLst>
                  <a:gd name="textAreaLeft" fmla="*/ 0 w 421560"/>
                  <a:gd name="textAreaRight" fmla="*/ 421920 w 421560"/>
                  <a:gd name="textAreaTop" fmla="*/ 0 h 526320"/>
                  <a:gd name="textAreaBottom" fmla="*/ 526680 h 526320"/>
                </a:gdLst>
                <a:ahLst/>
                <a:cxn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48" name="Freeform 15"/>
              <p:cNvSpPr/>
              <p:nvPr/>
            </p:nvSpPr>
            <p:spPr>
              <a:xfrm>
                <a:off x="1020600" y="488880"/>
                <a:ext cx="161280" cy="146880"/>
              </a:xfrm>
              <a:custGeom>
                <a:avLst/>
                <a:gdLst>
                  <a:gd name="textAreaLeft" fmla="*/ 0 w 161280"/>
                  <a:gd name="textAreaRight" fmla="*/ 161640 w 161280"/>
                  <a:gd name="textAreaTop" fmla="*/ 0 h 146880"/>
                  <a:gd name="textAreaBottom" fmla="*/ 147240 h 146880"/>
                </a:gdLst>
                <a:ahLst/>
                <a:cxn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49" name="Line 16"/>
              <p:cNvSpPr/>
              <p:nvPr/>
            </p:nvSpPr>
            <p:spPr>
              <a:xfrm>
                <a:off x="-4680" y="9360"/>
                <a:ext cx="360" cy="360"/>
              </a:xfrm>
              <a:custGeom>
                <a:avLst/>
                <a:gdLst>
                  <a:gd name="textAreaLeft" fmla="*/ 0 w 360"/>
                  <a:gd name="textAreaRight" fmla="*/ 720 w 360"/>
                  <a:gd name="textAreaTop" fmla="*/ 0 h 360"/>
                  <a:gd name="textAreaBottom" fmla="*/ 720 h 360"/>
                </a:gdLst>
                <a:ahLst/>
                <a:cxnLst/>
                <a:rect l="textAreaLeft" t="textAreaTop" r="textAreaRight" b="textAreaBottom"/>
                <a:pathLst>
                  <a:path w="1" h="1">
                    <a:moveTo>
                      <a:pt x="0" y="0"/>
                    </a:moveTo>
                    <a:lnTo>
                      <a:pt x="0" y="0"/>
                    </a:lnTo>
                  </a:path>
                </a:pathLst>
              </a:custGeom>
              <a:noFill/>
              <a:ln w="15">
                <a:solidFill>
                  <a:srgbClr val="FFFFFF"/>
                </a:solidFill>
              </a:ln>
            </p:spPr>
            <p:style>
              <a:lnRef idx="0">
                <a:scrgbClr r="0" g="0" b="0"/>
              </a:lnRef>
              <a:fillRef idx="0">
                <a:scrgbClr r="0" g="0" b="0"/>
              </a:fillRef>
              <a:effectRef idx="0">
                <a:scrgbClr r="0" g="0" b="0"/>
              </a:effectRef>
              <a:fontRef idx="minor"/>
            </p:style>
          </p:sp>
          <p:sp>
            <p:nvSpPr>
              <p:cNvPr id="150" name="Freeform 17"/>
              <p:cNvSpPr/>
              <p:nvPr/>
            </p:nvSpPr>
            <p:spPr>
              <a:xfrm>
                <a:off x="9360" y="1801800"/>
                <a:ext cx="123120" cy="126360"/>
              </a:xfrm>
              <a:custGeom>
                <a:avLst/>
                <a:gdLst>
                  <a:gd name="textAreaLeft" fmla="*/ 0 w 123120"/>
                  <a:gd name="textAreaRight" fmla="*/ 123480 w 123120"/>
                  <a:gd name="textAreaTop" fmla="*/ 0 h 126360"/>
                  <a:gd name="textAreaBottom" fmla="*/ 126720 h 126360"/>
                </a:gdLst>
                <a:ahLst/>
                <a:cxn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51" name="Freeform 18"/>
              <p:cNvSpPr/>
              <p:nvPr/>
            </p:nvSpPr>
            <p:spPr>
              <a:xfrm>
                <a:off x="-9360" y="3549600"/>
                <a:ext cx="146880" cy="480240"/>
              </a:xfrm>
              <a:custGeom>
                <a:avLst/>
                <a:gdLst>
                  <a:gd name="textAreaLeft" fmla="*/ 0 w 146880"/>
                  <a:gd name="textAreaRight" fmla="*/ 147240 w 146880"/>
                  <a:gd name="textAreaTop" fmla="*/ 0 h 480240"/>
                  <a:gd name="textAreaBottom" fmla="*/ 480600 h 480240"/>
                </a:gdLst>
                <a:ahLst/>
                <a:cxn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52" name="Freeform 19"/>
              <p:cNvSpPr/>
              <p:nvPr/>
            </p:nvSpPr>
            <p:spPr>
              <a:xfrm>
                <a:off x="128520" y="1382760"/>
                <a:ext cx="142200" cy="475560"/>
              </a:xfrm>
              <a:custGeom>
                <a:avLst/>
                <a:gdLst>
                  <a:gd name="textAreaLeft" fmla="*/ 0 w 142200"/>
                  <a:gd name="textAreaRight" fmla="*/ 142560 w 142200"/>
                  <a:gd name="textAreaTop" fmla="*/ 0 h 475560"/>
                  <a:gd name="textAreaBottom" fmla="*/ 475920 h 475560"/>
                </a:gdLst>
                <a:ahLst/>
                <a:cxn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53" name="Freeform 20"/>
              <p:cNvSpPr/>
              <p:nvPr/>
            </p:nvSpPr>
            <p:spPr>
              <a:xfrm>
                <a:off x="204840" y="1849320"/>
                <a:ext cx="113760" cy="107280"/>
              </a:xfrm>
              <a:custGeom>
                <a:avLst/>
                <a:gdLst>
                  <a:gd name="textAreaLeft" fmla="*/ 0 w 113760"/>
                  <a:gd name="textAreaRight" fmla="*/ 114120 w 113760"/>
                  <a:gd name="textAreaTop" fmla="*/ 0 h 107280"/>
                  <a:gd name="textAreaBottom" fmla="*/ 107640 h 107280"/>
                </a:gdLst>
                <a:ahLst/>
                <a:cxn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54" name="Rectangle 21"/>
              <p:cNvSpPr/>
              <p:nvPr/>
            </p:nvSpPr>
            <p:spPr>
              <a:xfrm>
                <a:off x="133200" y="4662360"/>
                <a:ext cx="23040" cy="2180520"/>
              </a:xfrm>
              <a:prstGeom prst="rect">
                <a:avLst/>
              </a:pr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55" name="Freeform 22"/>
              <p:cNvSpPr/>
              <p:nvPr/>
            </p:nvSpPr>
            <p:spPr>
              <a:xfrm>
                <a:off x="223920" y="5041800"/>
                <a:ext cx="369000" cy="1801080"/>
              </a:xfrm>
              <a:custGeom>
                <a:avLst/>
                <a:gdLst>
                  <a:gd name="textAreaLeft" fmla="*/ 0 w 369000"/>
                  <a:gd name="textAreaRight" fmla="*/ 369360 w 369000"/>
                  <a:gd name="textAreaTop" fmla="*/ 0 h 1801080"/>
                  <a:gd name="textAreaBottom" fmla="*/ 1801440 h 1801080"/>
                </a:gdLst>
                <a:ahLst/>
                <a:cxn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56" name="Freeform 23"/>
              <p:cNvSpPr/>
              <p:nvPr/>
            </p:nvSpPr>
            <p:spPr>
              <a:xfrm>
                <a:off x="52560" y="448164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57" name="Freeform 24"/>
              <p:cNvSpPr/>
              <p:nvPr/>
            </p:nvSpPr>
            <p:spPr>
              <a:xfrm>
                <a:off x="-14400" y="5627520"/>
                <a:ext cx="84960" cy="1215360"/>
              </a:xfrm>
              <a:custGeom>
                <a:avLst/>
                <a:gdLst>
                  <a:gd name="textAreaLeft" fmla="*/ 0 w 84960"/>
                  <a:gd name="textAreaRight" fmla="*/ 85320 w 84960"/>
                  <a:gd name="textAreaTop" fmla="*/ 0 h 1215360"/>
                  <a:gd name="textAreaBottom" fmla="*/ 1215720 h 1215360"/>
                </a:gdLst>
                <a:ahLst/>
                <a:cxn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58" name="Freeform 25"/>
              <p:cNvSpPr/>
              <p:nvPr/>
            </p:nvSpPr>
            <p:spPr>
              <a:xfrm>
                <a:off x="527040" y="4867200"/>
                <a:ext cx="189720" cy="188280"/>
              </a:xfrm>
              <a:custGeom>
                <a:avLst/>
                <a:gdLst>
                  <a:gd name="textAreaLeft" fmla="*/ 0 w 189720"/>
                  <a:gd name="textAreaRight" fmla="*/ 190080 w 189720"/>
                  <a:gd name="textAreaTop" fmla="*/ 0 h 188280"/>
                  <a:gd name="textAreaBottom" fmla="*/ 188640 h 1882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59" name="Freeform 26"/>
              <p:cNvSpPr/>
              <p:nvPr/>
            </p:nvSpPr>
            <p:spPr>
              <a:xfrm>
                <a:off x="309600" y="5423040"/>
                <a:ext cx="374040" cy="1424880"/>
              </a:xfrm>
              <a:custGeom>
                <a:avLst/>
                <a:gdLst>
                  <a:gd name="textAreaLeft" fmla="*/ 0 w 374040"/>
                  <a:gd name="textAreaRight" fmla="*/ 374400 w 374040"/>
                  <a:gd name="textAreaTop" fmla="*/ 0 h 1424880"/>
                  <a:gd name="textAreaBottom" fmla="*/ 1425240 h 1424880"/>
                </a:gdLst>
                <a:ahLst/>
                <a:cxn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60" name="Freeform 27"/>
              <p:cNvSpPr/>
              <p:nvPr/>
            </p:nvSpPr>
            <p:spPr>
              <a:xfrm>
                <a:off x="569880" y="5945040"/>
                <a:ext cx="151560" cy="912240"/>
              </a:xfrm>
              <a:custGeom>
                <a:avLst/>
                <a:gdLst>
                  <a:gd name="textAreaLeft" fmla="*/ 0 w 151560"/>
                  <a:gd name="textAreaRight" fmla="*/ 151920 w 151560"/>
                  <a:gd name="textAreaTop" fmla="*/ 0 h 912240"/>
                  <a:gd name="textAreaBottom" fmla="*/ 912600 h 912240"/>
                </a:gdLst>
                <a:ahLst/>
                <a:cxn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61" name="Freeform 28"/>
              <p:cNvSpPr/>
              <p:nvPr/>
            </p:nvSpPr>
            <p:spPr>
              <a:xfrm>
                <a:off x="612720" y="524664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62" name="Freeform 29"/>
              <p:cNvSpPr/>
              <p:nvPr/>
            </p:nvSpPr>
            <p:spPr>
              <a:xfrm>
                <a:off x="612720" y="576432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63" name="Freeform 30"/>
              <p:cNvSpPr/>
              <p:nvPr/>
            </p:nvSpPr>
            <p:spPr>
              <a:xfrm>
                <a:off x="669960" y="6330960"/>
                <a:ext cx="416880" cy="516960"/>
              </a:xfrm>
              <a:custGeom>
                <a:avLst/>
                <a:gdLst>
                  <a:gd name="textAreaLeft" fmla="*/ 0 w 416880"/>
                  <a:gd name="textAreaRight" fmla="*/ 417240 w 416880"/>
                  <a:gd name="textAreaTop" fmla="*/ 0 h 516960"/>
                  <a:gd name="textAreaBottom" fmla="*/ 517320 h 516960"/>
                </a:gdLst>
                <a:ahLst/>
                <a:cxn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64" name="Freeform 31"/>
              <p:cNvSpPr/>
              <p:nvPr/>
            </p:nvSpPr>
            <p:spPr>
              <a:xfrm>
                <a:off x="1049400" y="6221520"/>
                <a:ext cx="156600" cy="146880"/>
              </a:xfrm>
              <a:custGeom>
                <a:avLst/>
                <a:gdLst>
                  <a:gd name="textAreaLeft" fmla="*/ 0 w 156600"/>
                  <a:gd name="textAreaRight" fmla="*/ 156960 w 156600"/>
                  <a:gd name="textAreaTop" fmla="*/ 0 h 146880"/>
                  <a:gd name="textAreaBottom" fmla="*/ 147240 h 146880"/>
                </a:gdLst>
                <a:ahLst/>
                <a:cxn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grpSp>
        <p:grpSp>
          <p:nvGrpSpPr>
            <p:cNvPr id="165" name="Group 9"/>
            <p:cNvGrpSpPr/>
            <p:nvPr/>
          </p:nvGrpSpPr>
          <p:grpSpPr>
            <a:xfrm>
              <a:off x="11364840" y="0"/>
              <a:ext cx="673920" cy="6847920"/>
              <a:chOff x="11364840" y="0"/>
              <a:chExt cx="673920" cy="6847920"/>
            </a:xfrm>
          </p:grpSpPr>
          <p:sp>
            <p:nvSpPr>
              <p:cNvPr id="166" name="Freeform 32"/>
              <p:cNvSpPr/>
              <p:nvPr/>
            </p:nvSpPr>
            <p:spPr>
              <a:xfrm>
                <a:off x="11484000" y="0"/>
                <a:ext cx="416880" cy="511920"/>
              </a:xfrm>
              <a:custGeom>
                <a:avLst/>
                <a:gdLst>
                  <a:gd name="textAreaLeft" fmla="*/ 0 w 416880"/>
                  <a:gd name="textAreaRight" fmla="*/ 417240 w 416880"/>
                  <a:gd name="textAreaTop" fmla="*/ 0 h 511920"/>
                  <a:gd name="textAreaBottom" fmla="*/ 512280 h 511920"/>
                </a:gdLst>
                <a:ahLst/>
                <a:cxn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67" name="Freeform 33"/>
              <p:cNvSpPr/>
              <p:nvPr/>
            </p:nvSpPr>
            <p:spPr>
              <a:xfrm>
                <a:off x="11364840" y="474840"/>
                <a:ext cx="156600" cy="151560"/>
              </a:xfrm>
              <a:custGeom>
                <a:avLst/>
                <a:gdLst>
                  <a:gd name="textAreaLeft" fmla="*/ 0 w 156600"/>
                  <a:gd name="textAreaRight" fmla="*/ 156960 w 156600"/>
                  <a:gd name="textAreaTop" fmla="*/ 0 h 151560"/>
                  <a:gd name="textAreaBottom" fmla="*/ 151920 h 151560"/>
                </a:gdLst>
                <a:ahLst/>
                <a:cxn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68" name="Freeform 34"/>
              <p:cNvSpPr/>
              <p:nvPr/>
            </p:nvSpPr>
            <p:spPr>
              <a:xfrm>
                <a:off x="11631600" y="1539720"/>
                <a:ext cx="188280" cy="189720"/>
              </a:xfrm>
              <a:custGeom>
                <a:avLst/>
                <a:gdLst>
                  <a:gd name="textAreaLeft" fmla="*/ 0 w 188280"/>
                  <a:gd name="textAreaRight" fmla="*/ 188640 w 18828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69" name="Freeform 35"/>
              <p:cNvSpPr/>
              <p:nvPr/>
            </p:nvSpPr>
            <p:spPr>
              <a:xfrm>
                <a:off x="11531520" y="5694480"/>
                <a:ext cx="297720" cy="1153440"/>
              </a:xfrm>
              <a:custGeom>
                <a:avLst/>
                <a:gdLst>
                  <a:gd name="textAreaLeft" fmla="*/ 0 w 297720"/>
                  <a:gd name="textAreaRight" fmla="*/ 298080 w 297720"/>
                  <a:gd name="textAreaTop" fmla="*/ 0 h 1153440"/>
                  <a:gd name="textAreaBottom" fmla="*/ 1153800 h 1153440"/>
                </a:gdLst>
                <a:ahLst/>
                <a:cxn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70" name="Freeform 36"/>
              <p:cNvSpPr/>
              <p:nvPr/>
            </p:nvSpPr>
            <p:spPr>
              <a:xfrm>
                <a:off x="11773080" y="5551560"/>
                <a:ext cx="156600" cy="154800"/>
              </a:xfrm>
              <a:custGeom>
                <a:avLst/>
                <a:gdLst>
                  <a:gd name="textAreaLeft" fmla="*/ 0 w 156600"/>
                  <a:gd name="textAreaRight" fmla="*/ 156960 w 156600"/>
                  <a:gd name="textAreaTop" fmla="*/ 0 h 154800"/>
                  <a:gd name="textAreaBottom" fmla="*/ 155160 h 154800"/>
                </a:gdLst>
                <a:ahLst/>
                <a:cxn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71" name="Freeform 37"/>
              <p:cNvSpPr/>
              <p:nvPr/>
            </p:nvSpPr>
            <p:spPr>
              <a:xfrm>
                <a:off x="11711160" y="4680"/>
                <a:ext cx="304200" cy="1544040"/>
              </a:xfrm>
              <a:custGeom>
                <a:avLst/>
                <a:gdLst>
                  <a:gd name="textAreaLeft" fmla="*/ 0 w 304200"/>
                  <a:gd name="textAreaRight" fmla="*/ 304560 w 304200"/>
                  <a:gd name="textAreaTop" fmla="*/ 0 h 1544040"/>
                  <a:gd name="textAreaBottom" fmla="*/ 1544400 h 1544040"/>
                </a:gdLst>
                <a:ahLst/>
                <a:cxn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72" name="Freeform 38"/>
              <p:cNvSpPr/>
              <p:nvPr/>
            </p:nvSpPr>
            <p:spPr>
              <a:xfrm>
                <a:off x="11636280" y="4867200"/>
                <a:ext cx="188280" cy="188280"/>
              </a:xfrm>
              <a:custGeom>
                <a:avLst/>
                <a:gdLst>
                  <a:gd name="textAreaLeft" fmla="*/ 0 w 188280"/>
                  <a:gd name="textAreaRight" fmla="*/ 188640 w 188280"/>
                  <a:gd name="textAreaTop" fmla="*/ 0 h 188280"/>
                  <a:gd name="textAreaBottom" fmla="*/ 188640 h 1882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73" name="Freeform 39"/>
              <p:cNvSpPr/>
              <p:nvPr/>
            </p:nvSpPr>
            <p:spPr>
              <a:xfrm>
                <a:off x="11441160" y="5046840"/>
                <a:ext cx="307080" cy="1801080"/>
              </a:xfrm>
              <a:custGeom>
                <a:avLst/>
                <a:gdLst>
                  <a:gd name="textAreaLeft" fmla="*/ 0 w 307080"/>
                  <a:gd name="textAreaRight" fmla="*/ 307440 w 307080"/>
                  <a:gd name="textAreaTop" fmla="*/ 0 h 1801080"/>
                  <a:gd name="textAreaBottom" fmla="*/ 1801440 h 1801080"/>
                </a:gdLst>
                <a:ahLst/>
                <a:cxn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74" name="Freeform 40"/>
              <p:cNvSpPr/>
              <p:nvPr/>
            </p:nvSpPr>
            <p:spPr>
              <a:xfrm>
                <a:off x="11849040" y="6416640"/>
                <a:ext cx="189720" cy="188280"/>
              </a:xfrm>
              <a:custGeom>
                <a:avLst/>
                <a:gdLst>
                  <a:gd name="textAreaLeft" fmla="*/ 0 w 189720"/>
                  <a:gd name="textAreaRight" fmla="*/ 190080 w 189720"/>
                  <a:gd name="textAreaTop" fmla="*/ 0 h 188280"/>
                  <a:gd name="textAreaBottom" fmla="*/ 188640 h 1882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175" name="Rectangle 41"/>
              <p:cNvSpPr/>
              <p:nvPr/>
            </p:nvSpPr>
            <p:spPr>
              <a:xfrm>
                <a:off x="11939760" y="6595920"/>
                <a:ext cx="23040" cy="251640"/>
              </a:xfrm>
              <a:prstGeom prst="rect">
                <a:avLst/>
              </a:pr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grpSp>
      </p:grpSp>
      <p:sp>
        <p:nvSpPr>
          <p:cNvPr id="17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177"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FFFFFF"/>
              </a:buClr>
              <a:buSzPct val="45000"/>
              <a:buFont typeface="Wingdings" charset="2"/>
              <a:buChar char=""/>
            </a:pPr>
            <a:r>
              <a:rPr lang="en-US" sz="2800" b="0" strike="noStrike" spc="-1">
                <a:solidFill>
                  <a:srgbClr val="000000"/>
                </a:solidFill>
                <a:latin typeface="Arial"/>
              </a:rPr>
              <a:t>Click to edit the outline text format</a:t>
            </a:r>
          </a:p>
          <a:p>
            <a:pPr marL="864000" lvl="1" indent="-324000">
              <a:lnSpc>
                <a:spcPct val="90000"/>
              </a:lnSpc>
              <a:spcBef>
                <a:spcPts val="1134"/>
              </a:spcBef>
              <a:buClr>
                <a:srgbClr val="FFFFFF"/>
              </a:buClr>
              <a:buSzPct val="75000"/>
              <a:buFont typeface="Symbol" charset="2"/>
              <a:buChar char=""/>
            </a:pPr>
            <a:r>
              <a:rPr lang="en-US" sz="2000" b="0" strike="noStrike" spc="-1">
                <a:solidFill>
                  <a:srgbClr val="000000"/>
                </a:solidFill>
                <a:latin typeface="Arial"/>
              </a:rPr>
              <a:t>Second Outline Level</a:t>
            </a:r>
          </a:p>
          <a:p>
            <a:pPr marL="1296000" lvl="2" indent="-288000">
              <a:lnSpc>
                <a:spcPct val="90000"/>
              </a:lnSpc>
              <a:spcBef>
                <a:spcPts val="850"/>
              </a:spcBef>
              <a:buClr>
                <a:srgbClr val="FFFFFF"/>
              </a:buClr>
              <a:buSzPct val="45000"/>
              <a:buFont typeface="Wingdings" charset="2"/>
              <a:buChar char=""/>
            </a:pPr>
            <a:r>
              <a:rPr lang="en-US" sz="1800" b="0" strike="noStrike" spc="-1">
                <a:solidFill>
                  <a:srgbClr val="000000"/>
                </a:solidFill>
                <a:latin typeface="Arial"/>
              </a:rPr>
              <a:t>Third Outline Level</a:t>
            </a:r>
          </a:p>
          <a:p>
            <a:pPr marL="1728000" lvl="3" indent="-216000">
              <a:lnSpc>
                <a:spcPct val="90000"/>
              </a:lnSpc>
              <a:spcBef>
                <a:spcPts val="567"/>
              </a:spcBef>
              <a:buClr>
                <a:srgbClr val="FFFFFF"/>
              </a:buClr>
              <a:buSzPct val="75000"/>
              <a:buFont typeface="Symbol" charset="2"/>
              <a:buChar char=""/>
            </a:pPr>
            <a:r>
              <a:rPr lang="en-US" sz="1800" b="0" strike="noStrike" spc="-1">
                <a:solidFill>
                  <a:srgbClr val="000000"/>
                </a:solidFill>
                <a:latin typeface="Arial"/>
              </a:rPr>
              <a:t>Fourth Outline Level</a:t>
            </a:r>
          </a:p>
          <a:p>
            <a:pPr marL="2160000" lvl="4" indent="-216000">
              <a:lnSpc>
                <a:spcPct val="90000"/>
              </a:lnSpc>
              <a:spcBef>
                <a:spcPts val="283"/>
              </a:spcBef>
              <a:buClr>
                <a:srgbClr val="FFFFFF"/>
              </a:buClr>
              <a:buSzPct val="45000"/>
              <a:buFont typeface="Wingdings" charset="2"/>
              <a:buChar char=""/>
            </a:pPr>
            <a:r>
              <a:rPr lang="en-US" sz="2000" b="0" strike="noStrike" spc="-1">
                <a:solidFill>
                  <a:srgbClr val="000000"/>
                </a:solidFill>
                <a:latin typeface="Arial"/>
              </a:rPr>
              <a:t>Fifth Outline Level</a:t>
            </a:r>
          </a:p>
          <a:p>
            <a:pPr marL="2592000" lvl="5" indent="-216000">
              <a:lnSpc>
                <a:spcPct val="90000"/>
              </a:lnSpc>
              <a:spcBef>
                <a:spcPts val="283"/>
              </a:spcBef>
              <a:buClr>
                <a:srgbClr val="FFFFFF"/>
              </a:buClr>
              <a:buSzPct val="45000"/>
              <a:buFont typeface="Wingdings" charset="2"/>
              <a:buChar char=""/>
            </a:pPr>
            <a:r>
              <a:rPr lang="en-US" sz="2000" b="0" strike="noStrike" spc="-1">
                <a:solidFill>
                  <a:srgbClr val="000000"/>
                </a:solidFill>
                <a:latin typeface="Arial"/>
              </a:rPr>
              <a:t>Sixth Outline Level</a:t>
            </a:r>
          </a:p>
          <a:p>
            <a:pPr marL="3024000" lvl="6" indent="-216000">
              <a:lnSpc>
                <a:spcPct val="90000"/>
              </a:lnSpc>
              <a:spcBef>
                <a:spcPts val="283"/>
              </a:spcBef>
              <a:buClr>
                <a:srgbClr val="FFFFFF"/>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blipFill>
        <a:effectLst/>
      </p:bgPr>
    </p:bg>
    <p:spTree>
      <p:nvGrpSpPr>
        <p:cNvPr id="1" name=""/>
        <p:cNvGrpSpPr/>
        <p:nvPr/>
      </p:nvGrpSpPr>
      <p:grpSpPr>
        <a:xfrm>
          <a:off x="0" y="0"/>
          <a:ext cx="0" cy="0"/>
          <a:chOff x="0" y="0"/>
          <a:chExt cx="0" cy="0"/>
        </a:xfrm>
      </p:grpSpPr>
      <p:pic>
        <p:nvPicPr>
          <p:cNvPr id="214" name="Picture 2" descr="\\DROBO-FS\QuickDrops\JB\PPTX NG\Droplets\LightingOverlay.png"/>
          <p:cNvPicPr/>
          <p:nvPr/>
        </p:nvPicPr>
        <p:blipFill>
          <a:blip r:embed="rId15">
            <a:alphaModFix amt="30000"/>
          </a:blip>
          <a:stretch/>
        </p:blipFill>
        <p:spPr>
          <a:xfrm>
            <a:off x="0" y="0"/>
            <a:ext cx="12191400" cy="6857280"/>
          </a:xfrm>
          <a:prstGeom prst="rect">
            <a:avLst/>
          </a:prstGeom>
          <a:ln w="0">
            <a:noFill/>
          </a:ln>
        </p:spPr>
      </p:pic>
      <p:grpSp>
        <p:nvGrpSpPr>
          <p:cNvPr id="215" name="Group 7"/>
          <p:cNvGrpSpPr/>
          <p:nvPr/>
        </p:nvGrpSpPr>
        <p:grpSpPr>
          <a:xfrm>
            <a:off x="-14400" y="0"/>
            <a:ext cx="12053160" cy="6857280"/>
            <a:chOff x="-14400" y="0"/>
            <a:chExt cx="12053160" cy="6857280"/>
          </a:xfrm>
        </p:grpSpPr>
        <p:grpSp>
          <p:nvGrpSpPr>
            <p:cNvPr id="216" name="Group 8"/>
            <p:cNvGrpSpPr/>
            <p:nvPr/>
          </p:nvGrpSpPr>
          <p:grpSpPr>
            <a:xfrm>
              <a:off x="-14400" y="0"/>
              <a:ext cx="1220400" cy="6857280"/>
              <a:chOff x="-14400" y="0"/>
              <a:chExt cx="1220400" cy="6857280"/>
            </a:xfrm>
          </p:grpSpPr>
          <p:sp>
            <p:nvSpPr>
              <p:cNvPr id="217" name="Rectangle 5"/>
              <p:cNvSpPr/>
              <p:nvPr/>
            </p:nvSpPr>
            <p:spPr>
              <a:xfrm>
                <a:off x="114480" y="4680"/>
                <a:ext cx="23040" cy="2180520"/>
              </a:xfrm>
              <a:prstGeom prst="rect">
                <a:avLst/>
              </a:pr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18" name="Freeform 6"/>
              <p:cNvSpPr/>
              <p:nvPr/>
            </p:nvSpPr>
            <p:spPr>
              <a:xfrm>
                <a:off x="33480" y="217656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19" name="Freeform 7"/>
              <p:cNvSpPr/>
              <p:nvPr/>
            </p:nvSpPr>
            <p:spPr>
              <a:xfrm>
                <a:off x="28440" y="4021200"/>
                <a:ext cx="189720" cy="188280"/>
              </a:xfrm>
              <a:custGeom>
                <a:avLst/>
                <a:gdLst>
                  <a:gd name="textAreaLeft" fmla="*/ 0 w 189720"/>
                  <a:gd name="textAreaRight" fmla="*/ 190080 w 189720"/>
                  <a:gd name="textAreaTop" fmla="*/ 0 h 188280"/>
                  <a:gd name="textAreaBottom" fmla="*/ 188640 h 1882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20" name="Freeform 8"/>
              <p:cNvSpPr/>
              <p:nvPr/>
            </p:nvSpPr>
            <p:spPr>
              <a:xfrm>
                <a:off x="200160" y="4680"/>
                <a:ext cx="369000" cy="1810440"/>
              </a:xfrm>
              <a:custGeom>
                <a:avLst/>
                <a:gdLst>
                  <a:gd name="textAreaLeft" fmla="*/ 0 w 369000"/>
                  <a:gd name="textAreaRight" fmla="*/ 369360 w 369000"/>
                  <a:gd name="textAreaTop" fmla="*/ 0 h 1810440"/>
                  <a:gd name="textAreaBottom" fmla="*/ 1810800 h 1810440"/>
                </a:gdLst>
                <a:ahLst/>
                <a:cxn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21" name="Freeform 9"/>
              <p:cNvSpPr/>
              <p:nvPr/>
            </p:nvSpPr>
            <p:spPr>
              <a:xfrm>
                <a:off x="503280" y="1801800"/>
                <a:ext cx="189720" cy="188280"/>
              </a:xfrm>
              <a:custGeom>
                <a:avLst/>
                <a:gdLst>
                  <a:gd name="textAreaLeft" fmla="*/ 0 w 189720"/>
                  <a:gd name="textAreaRight" fmla="*/ 190080 w 189720"/>
                  <a:gd name="textAreaTop" fmla="*/ 0 h 188280"/>
                  <a:gd name="textAreaBottom" fmla="*/ 188640 h 18828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22" name="Freeform 10"/>
              <p:cNvSpPr/>
              <p:nvPr/>
            </p:nvSpPr>
            <p:spPr>
              <a:xfrm>
                <a:off x="285840" y="4680"/>
                <a:ext cx="369000" cy="1429560"/>
              </a:xfrm>
              <a:custGeom>
                <a:avLst/>
                <a:gdLst>
                  <a:gd name="textAreaLeft" fmla="*/ 0 w 369000"/>
                  <a:gd name="textAreaRight" fmla="*/ 369360 w 369000"/>
                  <a:gd name="textAreaTop" fmla="*/ 0 h 1429560"/>
                  <a:gd name="textAreaBottom" fmla="*/ 1429920 h 1429560"/>
                </a:gdLst>
                <a:ahLst/>
                <a:cxn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23" name="Freeform 11"/>
              <p:cNvSpPr/>
              <p:nvPr/>
            </p:nvSpPr>
            <p:spPr>
              <a:xfrm>
                <a:off x="546120" y="0"/>
                <a:ext cx="151560" cy="912240"/>
              </a:xfrm>
              <a:custGeom>
                <a:avLst/>
                <a:gdLst>
                  <a:gd name="textAreaLeft" fmla="*/ 0 w 151560"/>
                  <a:gd name="textAreaRight" fmla="*/ 151920 w 151560"/>
                  <a:gd name="textAreaTop" fmla="*/ 0 h 912240"/>
                  <a:gd name="textAreaBottom" fmla="*/ 912600 h 912240"/>
                </a:gdLst>
                <a:ahLst/>
                <a:cxn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24" name="Freeform 12"/>
              <p:cNvSpPr/>
              <p:nvPr/>
            </p:nvSpPr>
            <p:spPr>
              <a:xfrm>
                <a:off x="588960" y="142092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25" name="Freeform 13"/>
              <p:cNvSpPr/>
              <p:nvPr/>
            </p:nvSpPr>
            <p:spPr>
              <a:xfrm>
                <a:off x="588960" y="90324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26" name="Freeform 14"/>
              <p:cNvSpPr/>
              <p:nvPr/>
            </p:nvSpPr>
            <p:spPr>
              <a:xfrm>
                <a:off x="641520" y="0"/>
                <a:ext cx="421560" cy="526320"/>
              </a:xfrm>
              <a:custGeom>
                <a:avLst/>
                <a:gdLst>
                  <a:gd name="textAreaLeft" fmla="*/ 0 w 421560"/>
                  <a:gd name="textAreaRight" fmla="*/ 421920 w 421560"/>
                  <a:gd name="textAreaTop" fmla="*/ 0 h 526320"/>
                  <a:gd name="textAreaBottom" fmla="*/ 526680 h 526320"/>
                </a:gdLst>
                <a:ahLst/>
                <a:cxn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27" name="Freeform 15"/>
              <p:cNvSpPr/>
              <p:nvPr/>
            </p:nvSpPr>
            <p:spPr>
              <a:xfrm>
                <a:off x="1020600" y="488880"/>
                <a:ext cx="161280" cy="146880"/>
              </a:xfrm>
              <a:custGeom>
                <a:avLst/>
                <a:gdLst>
                  <a:gd name="textAreaLeft" fmla="*/ 0 w 161280"/>
                  <a:gd name="textAreaRight" fmla="*/ 161640 w 161280"/>
                  <a:gd name="textAreaTop" fmla="*/ 0 h 146880"/>
                  <a:gd name="textAreaBottom" fmla="*/ 147240 h 146880"/>
                </a:gdLst>
                <a:ahLst/>
                <a:cxn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28" name="Line 16"/>
              <p:cNvSpPr/>
              <p:nvPr/>
            </p:nvSpPr>
            <p:spPr>
              <a:xfrm>
                <a:off x="-4680" y="9360"/>
                <a:ext cx="360" cy="360"/>
              </a:xfrm>
              <a:custGeom>
                <a:avLst/>
                <a:gdLst>
                  <a:gd name="textAreaLeft" fmla="*/ 0 w 360"/>
                  <a:gd name="textAreaRight" fmla="*/ 720 w 360"/>
                  <a:gd name="textAreaTop" fmla="*/ 0 h 360"/>
                  <a:gd name="textAreaBottom" fmla="*/ 720 h 360"/>
                </a:gdLst>
                <a:ahLst/>
                <a:cxnLst/>
                <a:rect l="textAreaLeft" t="textAreaTop" r="textAreaRight" b="textAreaBottom"/>
                <a:pathLst>
                  <a:path w="1" h="1">
                    <a:moveTo>
                      <a:pt x="0" y="0"/>
                    </a:moveTo>
                    <a:lnTo>
                      <a:pt x="0" y="0"/>
                    </a:lnTo>
                  </a:path>
                </a:pathLst>
              </a:custGeom>
              <a:noFill/>
              <a:ln w="15">
                <a:solidFill>
                  <a:srgbClr val="FFFFFF"/>
                </a:solidFill>
              </a:ln>
            </p:spPr>
            <p:style>
              <a:lnRef idx="0">
                <a:scrgbClr r="0" g="0" b="0"/>
              </a:lnRef>
              <a:fillRef idx="0">
                <a:scrgbClr r="0" g="0" b="0"/>
              </a:fillRef>
              <a:effectRef idx="0">
                <a:scrgbClr r="0" g="0" b="0"/>
              </a:effectRef>
              <a:fontRef idx="minor"/>
            </p:style>
          </p:sp>
          <p:sp>
            <p:nvSpPr>
              <p:cNvPr id="229" name="Freeform 17"/>
              <p:cNvSpPr/>
              <p:nvPr/>
            </p:nvSpPr>
            <p:spPr>
              <a:xfrm>
                <a:off x="9360" y="1801800"/>
                <a:ext cx="123120" cy="126360"/>
              </a:xfrm>
              <a:custGeom>
                <a:avLst/>
                <a:gdLst>
                  <a:gd name="textAreaLeft" fmla="*/ 0 w 123120"/>
                  <a:gd name="textAreaRight" fmla="*/ 123480 w 123120"/>
                  <a:gd name="textAreaTop" fmla="*/ 0 h 126360"/>
                  <a:gd name="textAreaBottom" fmla="*/ 126720 h 126360"/>
                </a:gdLst>
                <a:ahLst/>
                <a:cxn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30" name="Freeform 18"/>
              <p:cNvSpPr/>
              <p:nvPr/>
            </p:nvSpPr>
            <p:spPr>
              <a:xfrm>
                <a:off x="-9360" y="3549600"/>
                <a:ext cx="146880" cy="480240"/>
              </a:xfrm>
              <a:custGeom>
                <a:avLst/>
                <a:gdLst>
                  <a:gd name="textAreaLeft" fmla="*/ 0 w 146880"/>
                  <a:gd name="textAreaRight" fmla="*/ 147240 w 146880"/>
                  <a:gd name="textAreaTop" fmla="*/ 0 h 480240"/>
                  <a:gd name="textAreaBottom" fmla="*/ 480600 h 480240"/>
                </a:gdLst>
                <a:ahLst/>
                <a:cxn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31" name="Freeform 19"/>
              <p:cNvSpPr/>
              <p:nvPr/>
            </p:nvSpPr>
            <p:spPr>
              <a:xfrm>
                <a:off x="128520" y="1382760"/>
                <a:ext cx="142200" cy="475560"/>
              </a:xfrm>
              <a:custGeom>
                <a:avLst/>
                <a:gdLst>
                  <a:gd name="textAreaLeft" fmla="*/ 0 w 142200"/>
                  <a:gd name="textAreaRight" fmla="*/ 142560 w 142200"/>
                  <a:gd name="textAreaTop" fmla="*/ 0 h 475560"/>
                  <a:gd name="textAreaBottom" fmla="*/ 475920 h 475560"/>
                </a:gdLst>
                <a:ahLst/>
                <a:cxn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32" name="Freeform 20"/>
              <p:cNvSpPr/>
              <p:nvPr/>
            </p:nvSpPr>
            <p:spPr>
              <a:xfrm>
                <a:off x="204840" y="1849320"/>
                <a:ext cx="113760" cy="107280"/>
              </a:xfrm>
              <a:custGeom>
                <a:avLst/>
                <a:gdLst>
                  <a:gd name="textAreaLeft" fmla="*/ 0 w 113760"/>
                  <a:gd name="textAreaRight" fmla="*/ 114120 w 113760"/>
                  <a:gd name="textAreaTop" fmla="*/ 0 h 107280"/>
                  <a:gd name="textAreaBottom" fmla="*/ 107640 h 107280"/>
                </a:gdLst>
                <a:ahLst/>
                <a:cxn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33" name="Rectangle 21"/>
              <p:cNvSpPr/>
              <p:nvPr/>
            </p:nvSpPr>
            <p:spPr>
              <a:xfrm>
                <a:off x="133200" y="4662360"/>
                <a:ext cx="23040" cy="2180520"/>
              </a:xfrm>
              <a:prstGeom prst="rect">
                <a:avLst/>
              </a:pr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34" name="Freeform 22"/>
              <p:cNvSpPr/>
              <p:nvPr/>
            </p:nvSpPr>
            <p:spPr>
              <a:xfrm>
                <a:off x="223920" y="5041800"/>
                <a:ext cx="369000" cy="1801080"/>
              </a:xfrm>
              <a:custGeom>
                <a:avLst/>
                <a:gdLst>
                  <a:gd name="textAreaLeft" fmla="*/ 0 w 369000"/>
                  <a:gd name="textAreaRight" fmla="*/ 369360 w 369000"/>
                  <a:gd name="textAreaTop" fmla="*/ 0 h 1801080"/>
                  <a:gd name="textAreaBottom" fmla="*/ 1801440 h 1801080"/>
                </a:gdLst>
                <a:ahLst/>
                <a:cxn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35" name="Freeform 23"/>
              <p:cNvSpPr/>
              <p:nvPr/>
            </p:nvSpPr>
            <p:spPr>
              <a:xfrm>
                <a:off x="52560" y="448164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36" name="Freeform 24"/>
              <p:cNvSpPr/>
              <p:nvPr/>
            </p:nvSpPr>
            <p:spPr>
              <a:xfrm>
                <a:off x="-14400" y="5627520"/>
                <a:ext cx="84960" cy="1215360"/>
              </a:xfrm>
              <a:custGeom>
                <a:avLst/>
                <a:gdLst>
                  <a:gd name="textAreaLeft" fmla="*/ 0 w 84960"/>
                  <a:gd name="textAreaRight" fmla="*/ 85320 w 84960"/>
                  <a:gd name="textAreaTop" fmla="*/ 0 h 1215360"/>
                  <a:gd name="textAreaBottom" fmla="*/ 1215720 h 1215360"/>
                </a:gdLst>
                <a:ahLst/>
                <a:cxn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37" name="Freeform 25"/>
              <p:cNvSpPr/>
              <p:nvPr/>
            </p:nvSpPr>
            <p:spPr>
              <a:xfrm>
                <a:off x="527040" y="4867200"/>
                <a:ext cx="189720" cy="188280"/>
              </a:xfrm>
              <a:custGeom>
                <a:avLst/>
                <a:gdLst>
                  <a:gd name="textAreaLeft" fmla="*/ 0 w 189720"/>
                  <a:gd name="textAreaRight" fmla="*/ 190080 w 189720"/>
                  <a:gd name="textAreaTop" fmla="*/ 0 h 188280"/>
                  <a:gd name="textAreaBottom" fmla="*/ 188640 h 1882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38" name="Freeform 26"/>
              <p:cNvSpPr/>
              <p:nvPr/>
            </p:nvSpPr>
            <p:spPr>
              <a:xfrm>
                <a:off x="309600" y="5423040"/>
                <a:ext cx="374040" cy="1424880"/>
              </a:xfrm>
              <a:custGeom>
                <a:avLst/>
                <a:gdLst>
                  <a:gd name="textAreaLeft" fmla="*/ 0 w 374040"/>
                  <a:gd name="textAreaRight" fmla="*/ 374400 w 374040"/>
                  <a:gd name="textAreaTop" fmla="*/ 0 h 1424880"/>
                  <a:gd name="textAreaBottom" fmla="*/ 1425240 h 1424880"/>
                </a:gdLst>
                <a:ahLst/>
                <a:cxn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39" name="Freeform 27"/>
              <p:cNvSpPr/>
              <p:nvPr/>
            </p:nvSpPr>
            <p:spPr>
              <a:xfrm>
                <a:off x="569880" y="5945040"/>
                <a:ext cx="151560" cy="912240"/>
              </a:xfrm>
              <a:custGeom>
                <a:avLst/>
                <a:gdLst>
                  <a:gd name="textAreaLeft" fmla="*/ 0 w 151560"/>
                  <a:gd name="textAreaRight" fmla="*/ 151920 w 151560"/>
                  <a:gd name="textAreaTop" fmla="*/ 0 h 912240"/>
                  <a:gd name="textAreaBottom" fmla="*/ 912600 h 912240"/>
                </a:gdLst>
                <a:ahLst/>
                <a:cxn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40" name="Freeform 28"/>
              <p:cNvSpPr/>
              <p:nvPr/>
            </p:nvSpPr>
            <p:spPr>
              <a:xfrm>
                <a:off x="612720" y="524664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41" name="Freeform 29"/>
              <p:cNvSpPr/>
              <p:nvPr/>
            </p:nvSpPr>
            <p:spPr>
              <a:xfrm>
                <a:off x="612720" y="5764320"/>
                <a:ext cx="189720" cy="189720"/>
              </a:xfrm>
              <a:custGeom>
                <a:avLst/>
                <a:gdLst>
                  <a:gd name="textAreaLeft" fmla="*/ 0 w 189720"/>
                  <a:gd name="textAreaRight" fmla="*/ 190080 w 18972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42" name="Freeform 30"/>
              <p:cNvSpPr/>
              <p:nvPr/>
            </p:nvSpPr>
            <p:spPr>
              <a:xfrm>
                <a:off x="669960" y="6330960"/>
                <a:ext cx="416880" cy="516960"/>
              </a:xfrm>
              <a:custGeom>
                <a:avLst/>
                <a:gdLst>
                  <a:gd name="textAreaLeft" fmla="*/ 0 w 416880"/>
                  <a:gd name="textAreaRight" fmla="*/ 417240 w 416880"/>
                  <a:gd name="textAreaTop" fmla="*/ 0 h 516960"/>
                  <a:gd name="textAreaBottom" fmla="*/ 517320 h 516960"/>
                </a:gdLst>
                <a:ahLst/>
                <a:cxn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43" name="Freeform 31"/>
              <p:cNvSpPr/>
              <p:nvPr/>
            </p:nvSpPr>
            <p:spPr>
              <a:xfrm>
                <a:off x="1049400" y="6221520"/>
                <a:ext cx="156600" cy="146880"/>
              </a:xfrm>
              <a:custGeom>
                <a:avLst/>
                <a:gdLst>
                  <a:gd name="textAreaLeft" fmla="*/ 0 w 156600"/>
                  <a:gd name="textAreaRight" fmla="*/ 156960 w 156600"/>
                  <a:gd name="textAreaTop" fmla="*/ 0 h 146880"/>
                  <a:gd name="textAreaBottom" fmla="*/ 147240 h 146880"/>
                </a:gdLst>
                <a:ahLst/>
                <a:cxn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grpSp>
        <p:grpSp>
          <p:nvGrpSpPr>
            <p:cNvPr id="244" name="Group 9"/>
            <p:cNvGrpSpPr/>
            <p:nvPr/>
          </p:nvGrpSpPr>
          <p:grpSpPr>
            <a:xfrm>
              <a:off x="11364840" y="0"/>
              <a:ext cx="673920" cy="6847920"/>
              <a:chOff x="11364840" y="0"/>
              <a:chExt cx="673920" cy="6847920"/>
            </a:xfrm>
          </p:grpSpPr>
          <p:sp>
            <p:nvSpPr>
              <p:cNvPr id="245" name="Freeform 32"/>
              <p:cNvSpPr/>
              <p:nvPr/>
            </p:nvSpPr>
            <p:spPr>
              <a:xfrm>
                <a:off x="11484000" y="0"/>
                <a:ext cx="416880" cy="511920"/>
              </a:xfrm>
              <a:custGeom>
                <a:avLst/>
                <a:gdLst>
                  <a:gd name="textAreaLeft" fmla="*/ 0 w 416880"/>
                  <a:gd name="textAreaRight" fmla="*/ 417240 w 416880"/>
                  <a:gd name="textAreaTop" fmla="*/ 0 h 511920"/>
                  <a:gd name="textAreaBottom" fmla="*/ 512280 h 511920"/>
                </a:gdLst>
                <a:ahLst/>
                <a:cxn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46" name="Freeform 33"/>
              <p:cNvSpPr/>
              <p:nvPr/>
            </p:nvSpPr>
            <p:spPr>
              <a:xfrm>
                <a:off x="11364840" y="474840"/>
                <a:ext cx="156600" cy="151560"/>
              </a:xfrm>
              <a:custGeom>
                <a:avLst/>
                <a:gdLst>
                  <a:gd name="textAreaLeft" fmla="*/ 0 w 156600"/>
                  <a:gd name="textAreaRight" fmla="*/ 156960 w 156600"/>
                  <a:gd name="textAreaTop" fmla="*/ 0 h 151560"/>
                  <a:gd name="textAreaBottom" fmla="*/ 151920 h 151560"/>
                </a:gdLst>
                <a:ahLst/>
                <a:cxn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47" name="Freeform 34"/>
              <p:cNvSpPr/>
              <p:nvPr/>
            </p:nvSpPr>
            <p:spPr>
              <a:xfrm>
                <a:off x="11631600" y="1539720"/>
                <a:ext cx="188280" cy="189720"/>
              </a:xfrm>
              <a:custGeom>
                <a:avLst/>
                <a:gdLst>
                  <a:gd name="textAreaLeft" fmla="*/ 0 w 188280"/>
                  <a:gd name="textAreaRight" fmla="*/ 188640 w 188280"/>
                  <a:gd name="textAreaTop" fmla="*/ 0 h 189720"/>
                  <a:gd name="textAreaBottom" fmla="*/ 190080 h 18972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48" name="Freeform 35"/>
              <p:cNvSpPr/>
              <p:nvPr/>
            </p:nvSpPr>
            <p:spPr>
              <a:xfrm>
                <a:off x="11531520" y="5694480"/>
                <a:ext cx="297720" cy="1153440"/>
              </a:xfrm>
              <a:custGeom>
                <a:avLst/>
                <a:gdLst>
                  <a:gd name="textAreaLeft" fmla="*/ 0 w 297720"/>
                  <a:gd name="textAreaRight" fmla="*/ 298080 w 297720"/>
                  <a:gd name="textAreaTop" fmla="*/ 0 h 1153440"/>
                  <a:gd name="textAreaBottom" fmla="*/ 1153800 h 1153440"/>
                </a:gdLst>
                <a:ahLst/>
                <a:cxn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49" name="Freeform 36"/>
              <p:cNvSpPr/>
              <p:nvPr/>
            </p:nvSpPr>
            <p:spPr>
              <a:xfrm>
                <a:off x="11773080" y="5551560"/>
                <a:ext cx="156600" cy="154800"/>
              </a:xfrm>
              <a:custGeom>
                <a:avLst/>
                <a:gdLst>
                  <a:gd name="textAreaLeft" fmla="*/ 0 w 156600"/>
                  <a:gd name="textAreaRight" fmla="*/ 156960 w 156600"/>
                  <a:gd name="textAreaTop" fmla="*/ 0 h 154800"/>
                  <a:gd name="textAreaBottom" fmla="*/ 155160 h 154800"/>
                </a:gdLst>
                <a:ahLst/>
                <a:cxn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50" name="Freeform 37"/>
              <p:cNvSpPr/>
              <p:nvPr/>
            </p:nvSpPr>
            <p:spPr>
              <a:xfrm>
                <a:off x="11711160" y="4680"/>
                <a:ext cx="304200" cy="1544040"/>
              </a:xfrm>
              <a:custGeom>
                <a:avLst/>
                <a:gdLst>
                  <a:gd name="textAreaLeft" fmla="*/ 0 w 304200"/>
                  <a:gd name="textAreaRight" fmla="*/ 304560 w 304200"/>
                  <a:gd name="textAreaTop" fmla="*/ 0 h 1544040"/>
                  <a:gd name="textAreaBottom" fmla="*/ 1544400 h 1544040"/>
                </a:gdLst>
                <a:ahLst/>
                <a:cxn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51" name="Freeform 38"/>
              <p:cNvSpPr/>
              <p:nvPr/>
            </p:nvSpPr>
            <p:spPr>
              <a:xfrm>
                <a:off x="11636280" y="4867200"/>
                <a:ext cx="188280" cy="188280"/>
              </a:xfrm>
              <a:custGeom>
                <a:avLst/>
                <a:gdLst>
                  <a:gd name="textAreaLeft" fmla="*/ 0 w 188280"/>
                  <a:gd name="textAreaRight" fmla="*/ 188640 w 188280"/>
                  <a:gd name="textAreaTop" fmla="*/ 0 h 188280"/>
                  <a:gd name="textAreaBottom" fmla="*/ 188640 h 1882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52" name="Freeform 39"/>
              <p:cNvSpPr/>
              <p:nvPr/>
            </p:nvSpPr>
            <p:spPr>
              <a:xfrm>
                <a:off x="11441160" y="5046840"/>
                <a:ext cx="307080" cy="1801080"/>
              </a:xfrm>
              <a:custGeom>
                <a:avLst/>
                <a:gdLst>
                  <a:gd name="textAreaLeft" fmla="*/ 0 w 307080"/>
                  <a:gd name="textAreaRight" fmla="*/ 307440 w 307080"/>
                  <a:gd name="textAreaTop" fmla="*/ 0 h 1801080"/>
                  <a:gd name="textAreaBottom" fmla="*/ 1801440 h 1801080"/>
                </a:gdLst>
                <a:ahLst/>
                <a:cxn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53" name="Freeform 40"/>
              <p:cNvSpPr/>
              <p:nvPr/>
            </p:nvSpPr>
            <p:spPr>
              <a:xfrm>
                <a:off x="11849040" y="6416640"/>
                <a:ext cx="189720" cy="188280"/>
              </a:xfrm>
              <a:custGeom>
                <a:avLst/>
                <a:gdLst>
                  <a:gd name="textAreaLeft" fmla="*/ 0 w 189720"/>
                  <a:gd name="textAreaRight" fmla="*/ 190080 w 189720"/>
                  <a:gd name="textAreaTop" fmla="*/ 0 h 188280"/>
                  <a:gd name="textAreaBottom" fmla="*/ 188640 h 188280"/>
                </a:gdLst>
                <a:ahLst/>
                <a:cxn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sp>
            <p:nvSpPr>
              <p:cNvPr id="254" name="Rectangle 41"/>
              <p:cNvSpPr/>
              <p:nvPr/>
            </p:nvSpPr>
            <p:spPr>
              <a:xfrm>
                <a:off x="11939760" y="6595920"/>
                <a:ext cx="23040" cy="251640"/>
              </a:xfrm>
              <a:prstGeom prst="rect">
                <a:avLst/>
              </a:prstGeom>
              <a:gradFill rotWithShape="0">
                <a:gsLst>
                  <a:gs pos="0">
                    <a:srgbClr val="7C96A3"/>
                  </a:gs>
                  <a:gs pos="100000">
                    <a:srgbClr val="3B4C54"/>
                  </a:gs>
                </a:gsLst>
                <a:lin ang="5400000"/>
              </a:gradFill>
              <a:ln w="0">
                <a:noFill/>
              </a:ln>
            </p:spPr>
            <p:style>
              <a:lnRef idx="0">
                <a:scrgbClr r="0" g="0" b="0"/>
              </a:lnRef>
              <a:fillRef idx="0">
                <a:scrgbClr r="0" g="0" b="0"/>
              </a:fillRef>
              <a:effectRef idx="0">
                <a:scrgbClr r="0" g="0" b="0"/>
              </a:effectRef>
              <a:fontRef idx="minor"/>
            </p:style>
          </p:sp>
        </p:grpSp>
      </p:grpSp>
      <p:sp>
        <p:nvSpPr>
          <p:cNvPr id="25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256"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FFFFFF"/>
              </a:buClr>
              <a:buSzPct val="45000"/>
              <a:buFont typeface="Wingdings" charset="2"/>
              <a:buChar char=""/>
            </a:pPr>
            <a:r>
              <a:rPr lang="en-US" sz="2800" b="0" strike="noStrike" spc="-1">
                <a:solidFill>
                  <a:srgbClr val="000000"/>
                </a:solidFill>
                <a:latin typeface="Arial"/>
              </a:rPr>
              <a:t>Click to edit the outline text format</a:t>
            </a:r>
          </a:p>
          <a:p>
            <a:pPr marL="864000" lvl="1" indent="-324000">
              <a:lnSpc>
                <a:spcPct val="90000"/>
              </a:lnSpc>
              <a:spcBef>
                <a:spcPts val="1134"/>
              </a:spcBef>
              <a:buClr>
                <a:srgbClr val="FFFFFF"/>
              </a:buClr>
              <a:buSzPct val="75000"/>
              <a:buFont typeface="Symbol" charset="2"/>
              <a:buChar char=""/>
            </a:pPr>
            <a:r>
              <a:rPr lang="en-US" sz="2000" b="0" strike="noStrike" spc="-1">
                <a:solidFill>
                  <a:srgbClr val="000000"/>
                </a:solidFill>
                <a:latin typeface="Arial"/>
              </a:rPr>
              <a:t>Second Outline Level</a:t>
            </a:r>
          </a:p>
          <a:p>
            <a:pPr marL="1296000" lvl="2" indent="-288000">
              <a:lnSpc>
                <a:spcPct val="90000"/>
              </a:lnSpc>
              <a:spcBef>
                <a:spcPts val="850"/>
              </a:spcBef>
              <a:buClr>
                <a:srgbClr val="FFFFFF"/>
              </a:buClr>
              <a:buSzPct val="45000"/>
              <a:buFont typeface="Wingdings" charset="2"/>
              <a:buChar char=""/>
            </a:pPr>
            <a:r>
              <a:rPr lang="en-US" sz="1800" b="0" strike="noStrike" spc="-1">
                <a:solidFill>
                  <a:srgbClr val="000000"/>
                </a:solidFill>
                <a:latin typeface="Arial"/>
              </a:rPr>
              <a:t>Third Outline Level</a:t>
            </a:r>
          </a:p>
          <a:p>
            <a:pPr marL="1728000" lvl="3" indent="-216000">
              <a:lnSpc>
                <a:spcPct val="90000"/>
              </a:lnSpc>
              <a:spcBef>
                <a:spcPts val="567"/>
              </a:spcBef>
              <a:buClr>
                <a:srgbClr val="FFFFFF"/>
              </a:buClr>
              <a:buSzPct val="75000"/>
              <a:buFont typeface="Symbol" charset="2"/>
              <a:buChar char=""/>
            </a:pPr>
            <a:r>
              <a:rPr lang="en-US" sz="1800" b="0" strike="noStrike" spc="-1">
                <a:solidFill>
                  <a:srgbClr val="000000"/>
                </a:solidFill>
                <a:latin typeface="Arial"/>
              </a:rPr>
              <a:t>Fourth Outline Level</a:t>
            </a:r>
          </a:p>
          <a:p>
            <a:pPr marL="2160000" lvl="4" indent="-216000">
              <a:lnSpc>
                <a:spcPct val="90000"/>
              </a:lnSpc>
              <a:spcBef>
                <a:spcPts val="283"/>
              </a:spcBef>
              <a:buClr>
                <a:srgbClr val="FFFFFF"/>
              </a:buClr>
              <a:buSzPct val="45000"/>
              <a:buFont typeface="Wingdings" charset="2"/>
              <a:buChar char=""/>
            </a:pPr>
            <a:r>
              <a:rPr lang="en-US" sz="2000" b="0" strike="noStrike" spc="-1">
                <a:solidFill>
                  <a:srgbClr val="000000"/>
                </a:solidFill>
                <a:latin typeface="Arial"/>
              </a:rPr>
              <a:t>Fifth Outline Level</a:t>
            </a:r>
          </a:p>
          <a:p>
            <a:pPr marL="2592000" lvl="5" indent="-216000">
              <a:lnSpc>
                <a:spcPct val="90000"/>
              </a:lnSpc>
              <a:spcBef>
                <a:spcPts val="283"/>
              </a:spcBef>
              <a:buClr>
                <a:srgbClr val="FFFFFF"/>
              </a:buClr>
              <a:buSzPct val="45000"/>
              <a:buFont typeface="Wingdings" charset="2"/>
              <a:buChar char=""/>
            </a:pPr>
            <a:r>
              <a:rPr lang="en-US" sz="2000" b="0" strike="noStrike" spc="-1">
                <a:solidFill>
                  <a:srgbClr val="000000"/>
                </a:solidFill>
                <a:latin typeface="Arial"/>
              </a:rPr>
              <a:t>Sixth Outline Level</a:t>
            </a:r>
          </a:p>
          <a:p>
            <a:pPr marL="3024000" lvl="6" indent="-216000">
              <a:lnSpc>
                <a:spcPct val="90000"/>
              </a:lnSpc>
              <a:spcBef>
                <a:spcPts val="283"/>
              </a:spcBef>
              <a:buClr>
                <a:srgbClr val="FFFFFF"/>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hyperlink" Target="https://drive.google.com/drive/folders/1adxWb8rRnZPX1bJxFK0sAZ-sl8TK6u6H?usp=drive_link" TargetMode="Externa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3" Type="http://schemas.openxmlformats.org/officeDocument/2006/relationships/hyperlink" Target="https://www.researchgate.net/figure/The-taxonomy-of-Information-Extraction-b-Semi-Structured-Data-Semi-structure-means-that_fig1_224351589" TargetMode="External"/><Relationship Id="rId2" Type="http://schemas.openxmlformats.org/officeDocument/2006/relationships/hyperlink" Target="https://developpaper.com/in-this-paper-graph-neural-network-is-applied-to-named-entity-recognition-and-relation-extraction-of-semi-structured-documents/" TargetMode="External"/><Relationship Id="rId1" Type="http://schemas.openxmlformats.org/officeDocument/2006/relationships/slideLayout" Target="../slideLayouts/slideLayout13.xml"/><Relationship Id="rId6" Type="http://schemas.openxmlformats.org/officeDocument/2006/relationships/hyperlink" Target="https://www.researchgate.net/publication/352113408_RECON_Relation_Extraction_using_Knowledge_Graph_Context_in_a_Graph_Neural_Network" TargetMode="External"/><Relationship Id="rId5" Type="http://schemas.openxmlformats.org/officeDocument/2006/relationships/hyperlink" Target="https://youtu.be/ZKwYitIkSOE" TargetMode="External"/><Relationship Id="rId4" Type="http://schemas.openxmlformats.org/officeDocument/2006/relationships/hyperlink" Target="https://youtu.be/y7sXDpffzQQ"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 name="Title 1"/>
          <p:cNvSpPr/>
          <p:nvPr/>
        </p:nvSpPr>
        <p:spPr>
          <a:xfrm>
            <a:off x="1342189" y="269344"/>
            <a:ext cx="8836090" cy="114744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rmAutofit/>
          </a:bodyPr>
          <a:lstStyle/>
          <a:p>
            <a:pPr algn="ctr"/>
            <a:r>
              <a:rPr lang="en-US" sz="3200" b="1" strike="noStrike" cap="all" spc="-1" dirty="0">
                <a:solidFill>
                  <a:srgbClr val="FFFFFF"/>
                </a:solidFill>
                <a:latin typeface="Times New Roman" panose="02020603050405020304" pitchFamily="18" charset="0"/>
                <a:ea typeface="DejaVu Sans"/>
                <a:cs typeface="Times New Roman" panose="02020603050405020304" pitchFamily="18" charset="0"/>
              </a:rPr>
              <a:t>RELATION EXTRACTION WITH GRAPH NEURAL NETWORKS</a:t>
            </a:r>
            <a:endParaRPr lang="en-US" sz="3200" b="0" strike="noStrike" spc="-1" dirty="0">
              <a:latin typeface="Times New Roman" panose="02020603050405020304" pitchFamily="18" charset="0"/>
              <a:cs typeface="Times New Roman" panose="02020603050405020304" pitchFamily="18" charset="0"/>
            </a:endParaRPr>
          </a:p>
        </p:txBody>
      </p:sp>
      <p:sp>
        <p:nvSpPr>
          <p:cNvPr id="295" name="TextBox 6"/>
          <p:cNvSpPr/>
          <p:nvPr/>
        </p:nvSpPr>
        <p:spPr>
          <a:xfrm>
            <a:off x="2103874" y="4998511"/>
            <a:ext cx="3501720" cy="132198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600" b="0" strike="noStrike" spc="-1" dirty="0">
                <a:solidFill>
                  <a:srgbClr val="FFFFFF"/>
                </a:solidFill>
                <a:latin typeface="Times New Roman" panose="02020603050405020304" pitchFamily="18" charset="0"/>
                <a:ea typeface="DejaVu Sans"/>
                <a:cs typeface="Times New Roman" panose="02020603050405020304" pitchFamily="18" charset="0"/>
              </a:rPr>
              <a:t>PROJECT ADVISOR:</a:t>
            </a:r>
            <a:endParaRPr lang="en-US" sz="1600" b="0" strike="noStrike" spc="-1" dirty="0">
              <a:latin typeface="Times New Roman" panose="02020603050405020304" pitchFamily="18" charset="0"/>
              <a:cs typeface="Times New Roman" panose="02020603050405020304" pitchFamily="18" charset="0"/>
            </a:endParaRPr>
          </a:p>
          <a:p>
            <a:pPr>
              <a:lnSpc>
                <a:spcPct val="100000"/>
              </a:lnSpc>
              <a:tabLst>
                <a:tab pos="0" algn="l"/>
              </a:tabLst>
            </a:pPr>
            <a:endParaRPr lang="en-US" sz="1600" b="0" strike="noStrike" spc="-1" dirty="0">
              <a:latin typeface="Times New Roman" panose="02020603050405020304" pitchFamily="18" charset="0"/>
              <a:cs typeface="Times New Roman" panose="02020603050405020304" pitchFamily="18" charset="0"/>
            </a:endParaRPr>
          </a:p>
          <a:p>
            <a:pPr>
              <a:lnSpc>
                <a:spcPct val="100000"/>
              </a:lnSpc>
              <a:tabLst>
                <a:tab pos="0" algn="l"/>
              </a:tabLst>
            </a:pPr>
            <a:r>
              <a:rPr lang="en-US" sz="1600" b="0" strike="noStrike" spc="-1" dirty="0">
                <a:solidFill>
                  <a:srgbClr val="FFFFFF"/>
                </a:solidFill>
                <a:latin typeface="Times New Roman" panose="02020603050405020304" pitchFamily="18" charset="0"/>
                <a:ea typeface="DejaVu Sans"/>
                <a:cs typeface="Times New Roman" panose="02020603050405020304" pitchFamily="18" charset="0"/>
              </a:rPr>
              <a:t>BINDU K.R.</a:t>
            </a:r>
            <a:endParaRPr lang="en-US" sz="1600" b="0" strike="noStrike" spc="-1" dirty="0">
              <a:latin typeface="Times New Roman" panose="02020603050405020304" pitchFamily="18" charset="0"/>
              <a:cs typeface="Times New Roman" panose="02020603050405020304" pitchFamily="18" charset="0"/>
            </a:endParaRPr>
          </a:p>
          <a:p>
            <a:pPr>
              <a:lnSpc>
                <a:spcPct val="100000"/>
              </a:lnSpc>
              <a:tabLst>
                <a:tab pos="0" algn="l"/>
              </a:tabLst>
            </a:pPr>
            <a:r>
              <a:rPr lang="en-US" sz="1600" b="0" strike="noStrike" spc="-1" dirty="0">
                <a:solidFill>
                  <a:srgbClr val="FFFFFF"/>
                </a:solidFill>
                <a:latin typeface="Times New Roman" panose="02020603050405020304" pitchFamily="18" charset="0"/>
                <a:ea typeface="DejaVu Sans"/>
                <a:cs typeface="Times New Roman" panose="02020603050405020304" pitchFamily="18" charset="0"/>
              </a:rPr>
              <a:t>ASST. PROFESSOR CSE</a:t>
            </a:r>
            <a:endParaRPr lang="en-US" sz="1600" b="0" strike="noStrike" spc="-1" dirty="0">
              <a:latin typeface="Times New Roman" panose="02020603050405020304" pitchFamily="18" charset="0"/>
              <a:cs typeface="Times New Roman" panose="02020603050405020304" pitchFamily="18" charset="0"/>
            </a:endParaRPr>
          </a:p>
          <a:p>
            <a:pPr>
              <a:lnSpc>
                <a:spcPct val="100000"/>
              </a:lnSpc>
              <a:tabLst>
                <a:tab pos="0" algn="l"/>
              </a:tabLst>
            </a:pPr>
            <a:r>
              <a:rPr lang="en-US" sz="1600" b="0" strike="noStrike" spc="-1" dirty="0">
                <a:solidFill>
                  <a:srgbClr val="FFFFFF"/>
                </a:solidFill>
                <a:latin typeface="Times New Roman" panose="02020603050405020304" pitchFamily="18" charset="0"/>
                <a:ea typeface="DejaVu Sans"/>
                <a:cs typeface="Times New Roman" panose="02020603050405020304" pitchFamily="18" charset="0"/>
              </a:rPr>
              <a:t>AMRITA VISHWA VIDYAPEETHAM</a:t>
            </a:r>
            <a:endParaRPr lang="en-US" sz="1600" b="0" strike="noStrike" spc="-1" dirty="0">
              <a:latin typeface="Times New Roman" panose="02020603050405020304" pitchFamily="18" charset="0"/>
              <a:cs typeface="Times New Roman" panose="02020603050405020304" pitchFamily="18" charset="0"/>
            </a:endParaRPr>
          </a:p>
        </p:txBody>
      </p:sp>
      <p:graphicFrame>
        <p:nvGraphicFramePr>
          <p:cNvPr id="2" name="Table 2">
            <a:extLst>
              <a:ext uri="{FF2B5EF4-FFF2-40B4-BE49-F238E27FC236}">
                <a16:creationId xmlns:a16="http://schemas.microsoft.com/office/drawing/2014/main" id="{5AEF9AF0-2D00-4E1A-209C-7980700D06EA}"/>
              </a:ext>
            </a:extLst>
          </p:cNvPr>
          <p:cNvGraphicFramePr>
            <a:graphicFrameLocks noGrp="1"/>
          </p:cNvGraphicFramePr>
          <p:nvPr>
            <p:extLst>
              <p:ext uri="{D42A27DB-BD31-4B8C-83A1-F6EECF244321}">
                <p14:modId xmlns:p14="http://schemas.microsoft.com/office/powerpoint/2010/main" val="3846447616"/>
              </p:ext>
            </p:extLst>
          </p:nvPr>
        </p:nvGraphicFramePr>
        <p:xfrm>
          <a:off x="1805931" y="1866530"/>
          <a:ext cx="7599326" cy="2682240"/>
        </p:xfrm>
        <a:graphic>
          <a:graphicData uri="http://schemas.openxmlformats.org/drawingml/2006/table">
            <a:tbl>
              <a:tblPr firstRow="1" bandRow="1">
                <a:tableStyleId>{5C22544A-7EE6-4342-B048-85BDC9FD1C3A}</a:tableStyleId>
              </a:tblPr>
              <a:tblGrid>
                <a:gridCol w="993253">
                  <a:extLst>
                    <a:ext uri="{9D8B030D-6E8A-4147-A177-3AD203B41FA5}">
                      <a16:colId xmlns:a16="http://schemas.microsoft.com/office/drawing/2014/main" val="850291487"/>
                    </a:ext>
                  </a:extLst>
                </a:gridCol>
                <a:gridCol w="2860290">
                  <a:extLst>
                    <a:ext uri="{9D8B030D-6E8A-4147-A177-3AD203B41FA5}">
                      <a16:colId xmlns:a16="http://schemas.microsoft.com/office/drawing/2014/main" val="3079257629"/>
                    </a:ext>
                  </a:extLst>
                </a:gridCol>
                <a:gridCol w="1968759">
                  <a:extLst>
                    <a:ext uri="{9D8B030D-6E8A-4147-A177-3AD203B41FA5}">
                      <a16:colId xmlns:a16="http://schemas.microsoft.com/office/drawing/2014/main" val="3171148470"/>
                    </a:ext>
                  </a:extLst>
                </a:gridCol>
                <a:gridCol w="1777024">
                  <a:extLst>
                    <a:ext uri="{9D8B030D-6E8A-4147-A177-3AD203B41FA5}">
                      <a16:colId xmlns:a16="http://schemas.microsoft.com/office/drawing/2014/main" val="1046280452"/>
                    </a:ext>
                  </a:extLst>
                </a:gridCol>
              </a:tblGrid>
              <a:tr h="184339">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S.NO</a:t>
                      </a:r>
                    </a:p>
                  </a:txBody>
                  <a:tcPr>
                    <a:solidFill>
                      <a:schemeClr val="bg2">
                        <a:lumMod val="60000"/>
                        <a:lumOff val="40000"/>
                      </a:schemeClr>
                    </a:solidFill>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REG.NO</a:t>
                      </a:r>
                    </a:p>
                  </a:txBody>
                  <a:tcPr>
                    <a:solidFill>
                      <a:schemeClr val="bg2">
                        <a:lumMod val="60000"/>
                        <a:lumOff val="40000"/>
                      </a:schemeClr>
                    </a:solidFill>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NAME</a:t>
                      </a:r>
                    </a:p>
                  </a:txBody>
                  <a:tcPr>
                    <a:solidFill>
                      <a:schemeClr val="bg2">
                        <a:lumMod val="60000"/>
                        <a:lumOff val="40000"/>
                      </a:schemeClr>
                    </a:solidFill>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SECTION</a:t>
                      </a:r>
                    </a:p>
                  </a:txBody>
                  <a:tcPr>
                    <a:solidFill>
                      <a:schemeClr val="bg2">
                        <a:lumMod val="60000"/>
                        <a:lumOff val="40000"/>
                      </a:schemeClr>
                    </a:solidFill>
                  </a:tcPr>
                </a:tc>
                <a:extLst>
                  <a:ext uri="{0D108BD9-81ED-4DB2-BD59-A6C34878D82A}">
                    <a16:rowId xmlns:a16="http://schemas.microsoft.com/office/drawing/2014/main" val="971822800"/>
                  </a:ext>
                </a:extLst>
              </a:tr>
              <a:tr h="251001">
                <a:tc>
                  <a:txBody>
                    <a:bodyPr/>
                    <a:lstStyle/>
                    <a:p>
                      <a:pPr algn="ctr"/>
                      <a:r>
                        <a:rPr lang="en-IN" sz="1600" dirty="0">
                          <a:latin typeface="Times New Roman" panose="02020603050405020304" pitchFamily="18" charset="0"/>
                          <a:cs typeface="Times New Roman" panose="02020603050405020304" pitchFamily="18" charset="0"/>
                        </a:rPr>
                        <a:t>1</a:t>
                      </a:r>
                    </a:p>
                  </a:txBody>
                  <a:tcPr>
                    <a:solidFill>
                      <a:schemeClr val="bg2">
                        <a:lumMod val="60000"/>
                        <a:lumOff val="4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CB.EN.U4CSE19121 </a:t>
                      </a:r>
                    </a:p>
                  </a:txBody>
                  <a:tcPr>
                    <a:solidFill>
                      <a:schemeClr val="bg2">
                        <a:lumMod val="60000"/>
                        <a:lumOff val="4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Kesa Varshitha</a:t>
                      </a:r>
                    </a:p>
                    <a:p>
                      <a:pPr algn="ctr"/>
                      <a:endParaRPr lang="en-IN" sz="1600" dirty="0">
                        <a:latin typeface="Times New Roman" panose="02020603050405020304" pitchFamily="18" charset="0"/>
                        <a:cs typeface="Times New Roman" panose="02020603050405020304" pitchFamily="18" charset="0"/>
                      </a:endParaRPr>
                    </a:p>
                  </a:txBody>
                  <a:tcPr>
                    <a:solidFill>
                      <a:schemeClr val="bg2">
                        <a:lumMod val="60000"/>
                        <a:lumOff val="4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CSE - B</a:t>
                      </a:r>
                    </a:p>
                  </a:txBody>
                  <a:tcPr>
                    <a:solidFill>
                      <a:schemeClr val="bg2">
                        <a:lumMod val="60000"/>
                        <a:lumOff val="40000"/>
                      </a:schemeClr>
                    </a:solidFill>
                  </a:tcPr>
                </a:tc>
                <a:extLst>
                  <a:ext uri="{0D108BD9-81ED-4DB2-BD59-A6C34878D82A}">
                    <a16:rowId xmlns:a16="http://schemas.microsoft.com/office/drawing/2014/main" val="3786042109"/>
                  </a:ext>
                </a:extLst>
              </a:tr>
              <a:tr h="370840">
                <a:tc>
                  <a:txBody>
                    <a:bodyPr/>
                    <a:lstStyle/>
                    <a:p>
                      <a:pPr algn="ctr"/>
                      <a:r>
                        <a:rPr lang="en-IN" sz="1600" dirty="0">
                          <a:latin typeface="Times New Roman" panose="02020603050405020304" pitchFamily="18" charset="0"/>
                          <a:cs typeface="Times New Roman" panose="02020603050405020304" pitchFamily="18" charset="0"/>
                        </a:rPr>
                        <a:t>2</a:t>
                      </a:r>
                    </a:p>
                  </a:txBody>
                  <a:tcPr>
                    <a:solidFill>
                      <a:schemeClr val="bg2">
                        <a:lumMod val="60000"/>
                        <a:lumOff val="4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CB.EN.U4CSE19135 </a:t>
                      </a:r>
                    </a:p>
                  </a:txBody>
                  <a:tcPr>
                    <a:solidFill>
                      <a:schemeClr val="bg2">
                        <a:lumMod val="60000"/>
                        <a:lumOff val="40000"/>
                      </a:schemeClr>
                    </a:solidFill>
                  </a:tcPr>
                </a:tc>
                <a:tc>
                  <a:txBody>
                    <a:bodyPr/>
                    <a:lstStyle/>
                    <a:p>
                      <a:pPr algn="ctr"/>
                      <a:r>
                        <a:rPr lang="en-IN" sz="1600" dirty="0">
                          <a:latin typeface="Times New Roman"/>
                          <a:cs typeface="Times New Roman"/>
                        </a:rPr>
                        <a:t>N D N Jahnavi</a:t>
                      </a:r>
                    </a:p>
                    <a:p>
                      <a:pPr algn="ctr"/>
                      <a:endParaRPr lang="en-IN" sz="1600" dirty="0">
                        <a:latin typeface="Times New Roman" panose="02020603050405020304" pitchFamily="18" charset="0"/>
                        <a:cs typeface="Times New Roman" panose="02020603050405020304" pitchFamily="18" charset="0"/>
                      </a:endParaRPr>
                    </a:p>
                  </a:txBody>
                  <a:tcPr>
                    <a:solidFill>
                      <a:schemeClr val="bg2">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CSE - B</a:t>
                      </a:r>
                    </a:p>
                    <a:p>
                      <a:pPr algn="ctr"/>
                      <a:endParaRPr lang="en-IN" sz="1600" dirty="0">
                        <a:latin typeface="Times New Roman" panose="02020603050405020304" pitchFamily="18" charset="0"/>
                        <a:cs typeface="Times New Roman" panose="02020603050405020304" pitchFamily="18" charset="0"/>
                      </a:endParaRPr>
                    </a:p>
                  </a:txBody>
                  <a:tcPr>
                    <a:solidFill>
                      <a:schemeClr val="bg2">
                        <a:lumMod val="60000"/>
                        <a:lumOff val="40000"/>
                      </a:schemeClr>
                    </a:solidFill>
                  </a:tcPr>
                </a:tc>
                <a:extLst>
                  <a:ext uri="{0D108BD9-81ED-4DB2-BD59-A6C34878D82A}">
                    <a16:rowId xmlns:a16="http://schemas.microsoft.com/office/drawing/2014/main" val="507400086"/>
                  </a:ext>
                </a:extLst>
              </a:tr>
              <a:tr h="370840">
                <a:tc>
                  <a:txBody>
                    <a:bodyPr/>
                    <a:lstStyle/>
                    <a:p>
                      <a:pPr algn="ctr"/>
                      <a:r>
                        <a:rPr lang="en-IN" sz="1600" dirty="0">
                          <a:latin typeface="Times New Roman" panose="02020603050405020304" pitchFamily="18" charset="0"/>
                          <a:cs typeface="Times New Roman" panose="02020603050405020304" pitchFamily="18" charset="0"/>
                        </a:rPr>
                        <a:t>3</a:t>
                      </a:r>
                    </a:p>
                  </a:txBody>
                  <a:tcPr>
                    <a:solidFill>
                      <a:schemeClr val="bg2">
                        <a:lumMod val="60000"/>
                        <a:lumOff val="4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CB.EN.U4CSE19139 </a:t>
                      </a:r>
                    </a:p>
                  </a:txBody>
                  <a:tcPr>
                    <a:solidFill>
                      <a:schemeClr val="bg2">
                        <a:lumMod val="60000"/>
                        <a:lumOff val="4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R Sneha Nair</a:t>
                      </a:r>
                    </a:p>
                    <a:p>
                      <a:pPr algn="ctr"/>
                      <a:endParaRPr lang="en-IN" sz="1600" dirty="0">
                        <a:latin typeface="Times New Roman" panose="02020603050405020304" pitchFamily="18" charset="0"/>
                        <a:cs typeface="Times New Roman" panose="02020603050405020304" pitchFamily="18" charset="0"/>
                      </a:endParaRPr>
                    </a:p>
                  </a:txBody>
                  <a:tcPr>
                    <a:solidFill>
                      <a:schemeClr val="bg2">
                        <a:lumMod val="60000"/>
                        <a:lumOff val="4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CSE - B</a:t>
                      </a:r>
                    </a:p>
                    <a:p>
                      <a:pPr algn="ctr"/>
                      <a:endParaRPr lang="en-IN" sz="1600" dirty="0">
                        <a:latin typeface="Times New Roman" panose="02020603050405020304" pitchFamily="18" charset="0"/>
                        <a:cs typeface="Times New Roman" panose="02020603050405020304" pitchFamily="18" charset="0"/>
                      </a:endParaRPr>
                    </a:p>
                  </a:txBody>
                  <a:tcPr>
                    <a:solidFill>
                      <a:schemeClr val="bg2">
                        <a:lumMod val="60000"/>
                        <a:lumOff val="40000"/>
                      </a:schemeClr>
                    </a:solidFill>
                  </a:tcPr>
                </a:tc>
                <a:extLst>
                  <a:ext uri="{0D108BD9-81ED-4DB2-BD59-A6C34878D82A}">
                    <a16:rowId xmlns:a16="http://schemas.microsoft.com/office/drawing/2014/main" val="2983183710"/>
                  </a:ext>
                </a:extLst>
              </a:tr>
              <a:tr h="370840">
                <a:tc>
                  <a:txBody>
                    <a:bodyPr/>
                    <a:lstStyle/>
                    <a:p>
                      <a:pPr algn="ctr"/>
                      <a:r>
                        <a:rPr lang="en-IN" sz="1600" dirty="0">
                          <a:latin typeface="Times New Roman" panose="02020603050405020304" pitchFamily="18" charset="0"/>
                          <a:cs typeface="Times New Roman" panose="02020603050405020304" pitchFamily="18" charset="0"/>
                        </a:rPr>
                        <a:t>4</a:t>
                      </a:r>
                    </a:p>
                  </a:txBody>
                  <a:tcPr>
                    <a:solidFill>
                      <a:schemeClr val="bg2">
                        <a:lumMod val="60000"/>
                        <a:lumOff val="4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CB.EN.U4CSE19148 </a:t>
                      </a:r>
                    </a:p>
                  </a:txBody>
                  <a:tcPr>
                    <a:solidFill>
                      <a:schemeClr val="bg2">
                        <a:lumMod val="60000"/>
                        <a:lumOff val="4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Sithara J P</a:t>
                      </a:r>
                    </a:p>
                    <a:p>
                      <a:pPr algn="ctr"/>
                      <a:endParaRPr lang="en-IN" sz="1600" dirty="0">
                        <a:latin typeface="Times New Roman" panose="02020603050405020304" pitchFamily="18" charset="0"/>
                        <a:cs typeface="Times New Roman" panose="02020603050405020304" pitchFamily="18" charset="0"/>
                      </a:endParaRPr>
                    </a:p>
                  </a:txBody>
                  <a:tcPr>
                    <a:solidFill>
                      <a:schemeClr val="bg2">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CSE - B</a:t>
                      </a:r>
                    </a:p>
                    <a:p>
                      <a:pPr algn="ctr"/>
                      <a:endParaRPr lang="en-IN" sz="1600" dirty="0">
                        <a:latin typeface="Times New Roman" panose="02020603050405020304" pitchFamily="18" charset="0"/>
                        <a:cs typeface="Times New Roman" panose="02020603050405020304" pitchFamily="18" charset="0"/>
                      </a:endParaRPr>
                    </a:p>
                  </a:txBody>
                  <a:tcPr>
                    <a:solidFill>
                      <a:schemeClr val="bg2">
                        <a:lumMod val="60000"/>
                        <a:lumOff val="40000"/>
                      </a:schemeClr>
                    </a:solidFill>
                  </a:tcPr>
                </a:tc>
                <a:extLst>
                  <a:ext uri="{0D108BD9-81ED-4DB2-BD59-A6C34878D82A}">
                    <a16:rowId xmlns:a16="http://schemas.microsoft.com/office/drawing/2014/main" val="2369565176"/>
                  </a:ext>
                </a:extLst>
              </a:tr>
            </a:tbl>
          </a:graphicData>
        </a:graphic>
      </p:graphicFrame>
      <p:sp>
        <p:nvSpPr>
          <p:cNvPr id="3" name="TextBox 2">
            <a:extLst>
              <a:ext uri="{FF2B5EF4-FFF2-40B4-BE49-F238E27FC236}">
                <a16:creationId xmlns:a16="http://schemas.microsoft.com/office/drawing/2014/main" id="{00B2E475-0C3C-C1A2-4353-F98076550943}"/>
              </a:ext>
            </a:extLst>
          </p:cNvPr>
          <p:cNvSpPr txBox="1"/>
          <p:nvPr/>
        </p:nvSpPr>
        <p:spPr>
          <a:xfrm>
            <a:off x="7753739" y="4998511"/>
            <a:ext cx="1892695" cy="369332"/>
          </a:xfrm>
          <a:prstGeom prst="rect">
            <a:avLst/>
          </a:prstGeom>
          <a:noFill/>
        </p:spPr>
        <p:txBody>
          <a:bodyPr wrap="square" rtlCol="0">
            <a:spAutoFit/>
          </a:bodyPr>
          <a:lstStyle/>
          <a:p>
            <a:r>
              <a:rPr lang="en-IN" dirty="0">
                <a:solidFill>
                  <a:schemeClr val="bg1"/>
                </a:solidFill>
                <a:latin typeface="Times New Roman" panose="02020603050405020304" pitchFamily="18" charset="0"/>
                <a:cs typeface="Times New Roman" panose="02020603050405020304" pitchFamily="18" charset="0"/>
              </a:rPr>
              <a:t>TAG – 5(AI)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 name="TextBox 295"/>
          <p:cNvSpPr txBox="1"/>
          <p:nvPr/>
        </p:nvSpPr>
        <p:spPr>
          <a:xfrm>
            <a:off x="1968204" y="529988"/>
            <a:ext cx="9448200" cy="919065"/>
          </a:xfrm>
          <a:prstGeom prst="rect">
            <a:avLst/>
          </a:prstGeom>
          <a:noFill/>
          <a:ln w="0">
            <a:noFill/>
          </a:ln>
        </p:spPr>
        <p:txBody>
          <a:bodyPr lIns="90000" tIns="45000" rIns="90000" bIns="45000" anchor="t">
            <a:noAutofit/>
          </a:bodyPr>
          <a:lstStyle/>
          <a:p>
            <a:r>
              <a:rPr lang="en-US" sz="4000" b="0" strike="noStrike" spc="-1" dirty="0">
                <a:solidFill>
                  <a:schemeClr val="accent4">
                    <a:lumMod val="60000"/>
                    <a:lumOff val="40000"/>
                  </a:schemeClr>
                </a:solidFill>
                <a:latin typeface="Times New Roman" panose="02020603050405020304" pitchFamily="18" charset="0"/>
                <a:ea typeface="Arial"/>
                <a:cs typeface="Times New Roman" panose="02020603050405020304" pitchFamily="18" charset="0"/>
              </a:rPr>
              <a:t>Screen shot of Mail approval from guide</a:t>
            </a:r>
            <a:endParaRPr lang="en-US" sz="4000" b="0" strike="noStrike" spc="-1" dirty="0">
              <a:solidFill>
                <a:schemeClr val="accent4">
                  <a:lumMod val="60000"/>
                  <a:lumOff val="40000"/>
                </a:schemeClr>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222FF23C-778F-D6FA-8E89-3D0E99D86D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22757" y="1485731"/>
            <a:ext cx="8146486" cy="388653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Title 1"/>
          <p:cNvSpPr/>
          <p:nvPr/>
        </p:nvSpPr>
        <p:spPr>
          <a:xfrm>
            <a:off x="1141560" y="618480"/>
            <a:ext cx="9905400" cy="1477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en-IN" sz="5400" b="1" strike="noStrike" cap="all" spc="-1" dirty="0">
                <a:solidFill>
                  <a:srgbClr val="E798B0"/>
                </a:solidFill>
                <a:latin typeface="Times New Roman"/>
                <a:ea typeface="DejaVu Sans"/>
              </a:rPr>
              <a:t>PROBLEM DEFINITION</a:t>
            </a:r>
            <a:endParaRPr lang="en-US" sz="5400" b="0" strike="noStrike" spc="-1" dirty="0">
              <a:latin typeface="Arial"/>
            </a:endParaRPr>
          </a:p>
        </p:txBody>
      </p:sp>
      <p:sp>
        <p:nvSpPr>
          <p:cNvPr id="298" name="Content Placeholder 2"/>
          <p:cNvSpPr/>
          <p:nvPr/>
        </p:nvSpPr>
        <p:spPr>
          <a:xfrm>
            <a:off x="1239120" y="2817720"/>
            <a:ext cx="9905400" cy="2247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algn="ctr">
              <a:lnSpc>
                <a:spcPct val="120000"/>
              </a:lnSpc>
              <a:spcBef>
                <a:spcPts val="1001"/>
              </a:spcBef>
              <a:tabLst>
                <a:tab pos="0" algn="l"/>
              </a:tabLst>
            </a:pPr>
            <a:r>
              <a:rPr lang="en-US" sz="3200" b="0" strike="noStrike" spc="-1" dirty="0">
                <a:solidFill>
                  <a:srgbClr val="FFFFFF"/>
                </a:solidFill>
                <a:latin typeface="Times New Roman"/>
                <a:ea typeface="DejaVu Sans"/>
              </a:rPr>
              <a:t>To implement relation extraction using Graph Neural </a:t>
            </a:r>
            <a:r>
              <a:rPr lang="en-US" sz="3200" spc="-1" dirty="0">
                <a:solidFill>
                  <a:srgbClr val="FFFFFF"/>
                </a:solidFill>
                <a:latin typeface="Times New Roman"/>
                <a:ea typeface="DejaVu Sans"/>
              </a:rPr>
              <a:t>N</a:t>
            </a:r>
            <a:r>
              <a:rPr lang="en-US" sz="3200" b="0" strike="noStrike" spc="-1" dirty="0">
                <a:solidFill>
                  <a:srgbClr val="FFFFFF"/>
                </a:solidFill>
                <a:latin typeface="Times New Roman"/>
                <a:ea typeface="DejaVu Sans"/>
              </a:rPr>
              <a:t>etworks in semi structured documents.</a:t>
            </a:r>
            <a:endParaRPr lang="en-US" sz="3200" b="0" strike="noStrike" spc="-1" dirty="0">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 name="Title 1"/>
          <p:cNvSpPr/>
          <p:nvPr/>
        </p:nvSpPr>
        <p:spPr>
          <a:xfrm>
            <a:off x="951480" y="375995"/>
            <a:ext cx="9905400" cy="775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en" sz="4400" b="1" strike="noStrike" cap="all" spc="-1" dirty="0">
                <a:solidFill>
                  <a:srgbClr val="E798B0"/>
                </a:solidFill>
                <a:latin typeface="Times New Roman"/>
                <a:ea typeface="DejaVu Sans"/>
              </a:rPr>
              <a:t>MOTIVATION</a:t>
            </a:r>
            <a:endParaRPr lang="en-US" sz="4400" b="0" strike="noStrike" spc="-1" dirty="0">
              <a:latin typeface="Arial"/>
            </a:endParaRPr>
          </a:p>
        </p:txBody>
      </p:sp>
      <p:sp>
        <p:nvSpPr>
          <p:cNvPr id="310" name="Content Placeholder 2"/>
          <p:cNvSpPr/>
          <p:nvPr/>
        </p:nvSpPr>
        <p:spPr>
          <a:xfrm>
            <a:off x="1222546" y="1569890"/>
            <a:ext cx="9746907" cy="421147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marL="343080" indent="-342720">
              <a:lnSpc>
                <a:spcPct val="120000"/>
              </a:lnSpc>
              <a:spcBef>
                <a:spcPts val="1001"/>
              </a:spcBef>
              <a:spcAft>
                <a:spcPts val="799"/>
              </a:spcAft>
              <a:buClr>
                <a:srgbClr val="FFFFFF"/>
              </a:buClr>
              <a:buSzPct val="125000"/>
              <a:buFont typeface="Arial"/>
              <a:buChar char="•"/>
              <a:tabLst>
                <a:tab pos="457200" algn="l"/>
              </a:tabLst>
            </a:pPr>
            <a:r>
              <a:rPr lang="en-US" sz="1900" b="0" i="0" dirty="0">
                <a:solidFill>
                  <a:schemeClr val="bg1"/>
                </a:solidFill>
                <a:effectLst/>
                <a:latin typeface="Times New Roman" panose="02020603050405020304" pitchFamily="18" charset="0"/>
                <a:cs typeface="Times New Roman" panose="02020603050405020304" pitchFamily="18" charset="0"/>
              </a:rPr>
              <a:t>Manual annotation of relationships in large volumes of data is time-consuming and impractical, requiring an automated approach. </a:t>
            </a:r>
            <a:r>
              <a:rPr lang="en-IN" sz="1900" b="0" strike="noStrike" spc="-1" dirty="0">
                <a:solidFill>
                  <a:schemeClr val="bg1"/>
                </a:solidFill>
                <a:latin typeface="Times New Roman" panose="02020603050405020304" pitchFamily="18" charset="0"/>
                <a:ea typeface="Calibri"/>
                <a:cs typeface="Times New Roman" panose="02020603050405020304" pitchFamily="18" charset="0"/>
              </a:rPr>
              <a:t>This could be easily done using relation extraction.</a:t>
            </a:r>
          </a:p>
          <a:p>
            <a:pPr marL="360">
              <a:lnSpc>
                <a:spcPct val="120000"/>
              </a:lnSpc>
              <a:spcBef>
                <a:spcPts val="1001"/>
              </a:spcBef>
              <a:spcAft>
                <a:spcPts val="799"/>
              </a:spcAft>
              <a:buClr>
                <a:srgbClr val="FFFFFF"/>
              </a:buClr>
              <a:buSzPct val="125000"/>
              <a:tabLst>
                <a:tab pos="457200" algn="l"/>
              </a:tabLst>
            </a:pPr>
            <a:endParaRPr lang="en-IN" sz="200" b="0" strike="noStrike" spc="-1" dirty="0">
              <a:solidFill>
                <a:schemeClr val="bg1"/>
              </a:solidFill>
              <a:latin typeface="Times New Roman" panose="02020603050405020304" pitchFamily="18" charset="0"/>
              <a:ea typeface="Calibri"/>
              <a:cs typeface="Times New Roman" panose="02020603050405020304" pitchFamily="18" charset="0"/>
            </a:endParaRPr>
          </a:p>
          <a:p>
            <a:pPr marL="343080" indent="-342720">
              <a:lnSpc>
                <a:spcPct val="120000"/>
              </a:lnSpc>
              <a:spcBef>
                <a:spcPts val="1001"/>
              </a:spcBef>
              <a:spcAft>
                <a:spcPts val="799"/>
              </a:spcAft>
              <a:buClr>
                <a:srgbClr val="FFFFFF"/>
              </a:buClr>
              <a:buSzPct val="125000"/>
              <a:buFont typeface="Arial"/>
              <a:buChar char="•"/>
              <a:tabLst>
                <a:tab pos="457200" algn="l"/>
              </a:tabLst>
            </a:pPr>
            <a:r>
              <a:rPr lang="en-US" sz="1900" b="0" i="0" dirty="0">
                <a:solidFill>
                  <a:schemeClr val="bg1"/>
                </a:solidFill>
                <a:effectLst/>
                <a:latin typeface="Times New Roman" panose="02020603050405020304" pitchFamily="18" charset="0"/>
                <a:cs typeface="Times New Roman" panose="02020603050405020304" pitchFamily="18" charset="0"/>
              </a:rPr>
              <a:t>Extracting relationships between entities in semi-structured documents is crucial for applications such as information retrieval, question answering, and knowledge graph construction.</a:t>
            </a:r>
          </a:p>
          <a:p>
            <a:pPr marL="360">
              <a:lnSpc>
                <a:spcPct val="120000"/>
              </a:lnSpc>
              <a:spcBef>
                <a:spcPts val="1001"/>
              </a:spcBef>
              <a:spcAft>
                <a:spcPts val="799"/>
              </a:spcAft>
              <a:buClr>
                <a:srgbClr val="FFFFFF"/>
              </a:buClr>
              <a:buSzPct val="125000"/>
              <a:tabLst>
                <a:tab pos="457200" algn="l"/>
              </a:tabLst>
            </a:pPr>
            <a:endParaRPr lang="en-US" sz="200" b="0" strike="noStrike" spc="-1" dirty="0">
              <a:solidFill>
                <a:schemeClr val="bg1"/>
              </a:solidFill>
              <a:latin typeface="Times New Roman" panose="02020603050405020304" pitchFamily="18" charset="0"/>
              <a:cs typeface="Times New Roman" panose="02020603050405020304" pitchFamily="18" charset="0"/>
            </a:endParaRPr>
          </a:p>
          <a:p>
            <a:pPr marL="343080" indent="-342720">
              <a:lnSpc>
                <a:spcPct val="120000"/>
              </a:lnSpc>
              <a:spcBef>
                <a:spcPts val="1001"/>
              </a:spcBef>
              <a:spcAft>
                <a:spcPts val="799"/>
              </a:spcAft>
              <a:buClr>
                <a:srgbClr val="FFFFFF"/>
              </a:buClr>
              <a:buSzPct val="125000"/>
              <a:buFont typeface="Arial"/>
              <a:buChar char="•"/>
              <a:tabLst>
                <a:tab pos="457200" algn="l"/>
              </a:tabLst>
            </a:pPr>
            <a:r>
              <a:rPr lang="en-US" sz="1900" b="0" strike="noStrike" spc="-1" dirty="0">
                <a:solidFill>
                  <a:schemeClr val="bg1"/>
                </a:solidFill>
                <a:latin typeface="Times New Roman" panose="02020603050405020304" pitchFamily="18" charset="0"/>
                <a:ea typeface="Calibri"/>
                <a:cs typeface="Times New Roman" panose="02020603050405020304" pitchFamily="18" charset="0"/>
              </a:rPr>
              <a:t>The majority of NLP models are done mainly on three languages. Our main goal is to use an improved version of this methodology </a:t>
            </a:r>
            <a:r>
              <a:rPr lang="en-US" sz="1900" spc="-1" dirty="0">
                <a:solidFill>
                  <a:schemeClr val="bg1"/>
                </a:solidFill>
                <a:latin typeface="Times New Roman" panose="02020603050405020304" pitchFamily="18" charset="0"/>
                <a:ea typeface="Calibri"/>
                <a:cs typeface="Times New Roman" panose="02020603050405020304" pitchFamily="18" charset="0"/>
              </a:rPr>
              <a:t>for </a:t>
            </a:r>
            <a:r>
              <a:rPr lang="en-US" sz="1900" b="0" strike="noStrike" spc="-1" dirty="0">
                <a:solidFill>
                  <a:schemeClr val="bg1"/>
                </a:solidFill>
                <a:latin typeface="Times New Roman" panose="02020603050405020304" pitchFamily="18" charset="0"/>
                <a:ea typeface="Calibri"/>
                <a:cs typeface="Times New Roman" panose="02020603050405020304" pitchFamily="18" charset="0"/>
              </a:rPr>
              <a:t>Indian languages.</a:t>
            </a:r>
            <a:endParaRPr lang="en-US" sz="1900" b="0" strike="noStrike" spc="-1"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725AE-8CB8-CAA2-2B7B-1D419E401C61}"/>
              </a:ext>
            </a:extLst>
          </p:cNvPr>
          <p:cNvSpPr>
            <a:spLocks noGrp="1"/>
          </p:cNvSpPr>
          <p:nvPr>
            <p:ph type="title"/>
          </p:nvPr>
        </p:nvSpPr>
        <p:spPr>
          <a:xfrm>
            <a:off x="589815" y="242595"/>
            <a:ext cx="10801559" cy="895740"/>
          </a:xfrm>
        </p:spPr>
        <p:txBody>
          <a:bodyPr/>
          <a:lstStyle/>
          <a:p>
            <a:pPr algn="ctr"/>
            <a:r>
              <a:rPr lang="en-IN" sz="4400" b="1" strike="noStrike" cap="all" spc="-1" dirty="0">
                <a:solidFill>
                  <a:srgbClr val="E798B0"/>
                </a:solidFill>
                <a:latin typeface="Times New Roman" panose="02020603050405020304" pitchFamily="18" charset="0"/>
                <a:ea typeface="DejaVu Sans"/>
                <a:cs typeface="Times New Roman" panose="02020603050405020304" pitchFamily="18" charset="0"/>
              </a:rPr>
              <a:t>ABSTRACT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559405E-5D87-F0E6-A4AD-25A72CCFC3E8}"/>
              </a:ext>
            </a:extLst>
          </p:cNvPr>
          <p:cNvSpPr>
            <a:spLocks noGrp="1"/>
          </p:cNvSpPr>
          <p:nvPr>
            <p:ph/>
          </p:nvPr>
        </p:nvSpPr>
        <p:spPr>
          <a:xfrm>
            <a:off x="1054359" y="1259633"/>
            <a:ext cx="10534262" cy="5598367"/>
          </a:xfrm>
        </p:spPr>
        <p:txBody>
          <a:bodyPr>
            <a:normAutofit/>
          </a:bodyPr>
          <a:lstStyle/>
          <a:p>
            <a:pPr algn="l">
              <a:lnSpc>
                <a:spcPct val="150000"/>
              </a:lnSpc>
            </a:pPr>
            <a:r>
              <a:rPr lang="en-US" sz="1800" b="1" i="0" dirty="0">
                <a:solidFill>
                  <a:srgbClr val="D1D5DB"/>
                </a:solidFill>
                <a:effectLst/>
                <a:latin typeface="Söhne"/>
              </a:rPr>
              <a:t>Entity-Relationship Extraction:</a:t>
            </a:r>
          </a:p>
          <a:p>
            <a:pPr marL="742950" lvl="1" indent="-285750" algn="l">
              <a:lnSpc>
                <a:spcPct val="150000"/>
              </a:lnSpc>
              <a:buFont typeface="Arial" panose="020B0604020202020204" pitchFamily="34" charset="0"/>
              <a:buChar char="•"/>
            </a:pPr>
            <a:r>
              <a:rPr lang="en-US" b="0" i="0" dirty="0">
                <a:solidFill>
                  <a:srgbClr val="D1D5DB"/>
                </a:solidFill>
                <a:effectLst/>
                <a:latin typeface="Söhne"/>
              </a:rPr>
              <a:t>Extracts semantic relationships from text</a:t>
            </a:r>
          </a:p>
          <a:p>
            <a:pPr marL="742950" lvl="1" indent="-285750" algn="l">
              <a:lnSpc>
                <a:spcPct val="150000"/>
              </a:lnSpc>
              <a:buFont typeface="Arial" panose="020B0604020202020204" pitchFamily="34" charset="0"/>
              <a:buChar char="•"/>
            </a:pPr>
            <a:r>
              <a:rPr lang="en-US" b="0" i="0" dirty="0">
                <a:solidFill>
                  <a:srgbClr val="D1D5DB"/>
                </a:solidFill>
                <a:effectLst/>
                <a:latin typeface="Söhne"/>
              </a:rPr>
              <a:t>Trains NLP-based AI models for relationship understanding </a:t>
            </a:r>
            <a:r>
              <a:rPr lang="en-US" dirty="0">
                <a:solidFill>
                  <a:srgbClr val="D1D5DB"/>
                </a:solidFill>
                <a:latin typeface="Söhne"/>
              </a:rPr>
              <a:t>and </a:t>
            </a:r>
            <a:r>
              <a:rPr lang="en-US" b="0" i="0" dirty="0">
                <a:solidFill>
                  <a:srgbClr val="D1D5DB"/>
                </a:solidFill>
                <a:effectLst/>
                <a:latin typeface="Söhne"/>
              </a:rPr>
              <a:t>Enables data analysis of extracted information</a:t>
            </a:r>
          </a:p>
          <a:p>
            <a:pPr algn="l">
              <a:lnSpc>
                <a:spcPct val="150000"/>
              </a:lnSpc>
            </a:pPr>
            <a:r>
              <a:rPr lang="en-US" sz="1800" b="1" i="0" dirty="0">
                <a:solidFill>
                  <a:srgbClr val="D1D5DB"/>
                </a:solidFill>
                <a:effectLst/>
                <a:latin typeface="Söhne"/>
              </a:rPr>
              <a:t>Graph Neural Networks (GNN) for NER and Relation Extraction:</a:t>
            </a:r>
          </a:p>
          <a:p>
            <a:pPr marL="742950" lvl="1" indent="-285750" algn="l">
              <a:lnSpc>
                <a:spcPct val="150000"/>
              </a:lnSpc>
              <a:buFont typeface="Arial" panose="020B0604020202020204" pitchFamily="34" charset="0"/>
              <a:buChar char="•"/>
            </a:pPr>
            <a:r>
              <a:rPr lang="en-US" b="0" i="0" dirty="0">
                <a:solidFill>
                  <a:srgbClr val="D1D5DB"/>
                </a:solidFill>
                <a:effectLst/>
                <a:latin typeface="Söhne"/>
              </a:rPr>
              <a:t>Proposed for entity recognition and relation extraction</a:t>
            </a:r>
          </a:p>
          <a:p>
            <a:pPr marL="742950" lvl="1" indent="-285750" algn="l">
              <a:lnSpc>
                <a:spcPct val="150000"/>
              </a:lnSpc>
              <a:buFont typeface="Arial" panose="020B0604020202020204" pitchFamily="34" charset="0"/>
              <a:buChar char="•"/>
            </a:pPr>
            <a:r>
              <a:rPr lang="en-US" b="0" i="0" dirty="0">
                <a:solidFill>
                  <a:srgbClr val="D1D5DB"/>
                </a:solidFill>
                <a:effectLst/>
                <a:latin typeface="Söhne"/>
              </a:rPr>
              <a:t>effectively learns relationships in documents</a:t>
            </a:r>
          </a:p>
          <a:p>
            <a:pPr algn="l">
              <a:lnSpc>
                <a:spcPct val="150000"/>
              </a:lnSpc>
            </a:pPr>
            <a:r>
              <a:rPr lang="en-US" sz="1800" b="1" i="0" dirty="0">
                <a:solidFill>
                  <a:srgbClr val="D1D5DB"/>
                </a:solidFill>
                <a:effectLst/>
                <a:latin typeface="Söhne"/>
              </a:rPr>
              <a:t>‘Extracting Entity-Relations via Improved Graph Attention networks":</a:t>
            </a:r>
          </a:p>
          <a:p>
            <a:pPr marL="742950" lvl="1" indent="-285750" algn="l">
              <a:lnSpc>
                <a:spcPct val="150000"/>
              </a:lnSpc>
              <a:buFont typeface="Arial" panose="020B0604020202020204" pitchFamily="34" charset="0"/>
              <a:buChar char="•"/>
            </a:pPr>
            <a:r>
              <a:rPr lang="en-US" b="0" i="0" dirty="0">
                <a:solidFill>
                  <a:srgbClr val="D1D5DB"/>
                </a:solidFill>
                <a:effectLst/>
                <a:latin typeface="Söhne"/>
              </a:rPr>
              <a:t>Addresses poor performance in relation extraction for complex text </a:t>
            </a:r>
            <a:endParaRPr lang="en-US" dirty="0">
              <a:solidFill>
                <a:srgbClr val="D1D5DB"/>
              </a:solidFill>
              <a:latin typeface="Söhne"/>
            </a:endParaRPr>
          </a:p>
          <a:p>
            <a:pPr marL="742950" lvl="1" indent="-285750" algn="l">
              <a:lnSpc>
                <a:spcPct val="150000"/>
              </a:lnSpc>
              <a:buFont typeface="Arial" panose="020B0604020202020204" pitchFamily="34" charset="0"/>
              <a:buChar char="•"/>
            </a:pPr>
            <a:r>
              <a:rPr lang="en-US" b="0" i="0" dirty="0">
                <a:solidFill>
                  <a:srgbClr val="D1D5DB"/>
                </a:solidFill>
                <a:effectLst/>
                <a:latin typeface="Söhne"/>
              </a:rPr>
              <a:t>GNNs improve entity recognition and enhances relation extraction task</a:t>
            </a:r>
          </a:p>
          <a:p>
            <a:pPr marL="742950" lvl="1" indent="-285750" algn="l">
              <a:lnSpc>
                <a:spcPct val="150000"/>
              </a:lnSpc>
              <a:buFont typeface="Arial" panose="020B0604020202020204" pitchFamily="34" charset="0"/>
              <a:buChar char="•"/>
            </a:pPr>
            <a:r>
              <a:rPr lang="en-US" b="0" i="0" dirty="0">
                <a:solidFill>
                  <a:srgbClr val="D1D5DB"/>
                </a:solidFill>
                <a:effectLst/>
                <a:latin typeface="Söhne"/>
              </a:rPr>
              <a:t>Consistent performance improvements and enables understanding of text relationships</a:t>
            </a:r>
          </a:p>
          <a:p>
            <a:pPr marL="742950" lvl="1" indent="-285750" algn="l">
              <a:lnSpc>
                <a:spcPct val="150000"/>
              </a:lnSpc>
              <a:buFont typeface="Arial" panose="020B0604020202020204" pitchFamily="34" charset="0"/>
              <a:buChar char="•"/>
            </a:pPr>
            <a:r>
              <a:rPr lang="en-US" b="0" i="0" dirty="0">
                <a:solidFill>
                  <a:srgbClr val="D1D5DB"/>
                </a:solidFill>
                <a:effectLst/>
                <a:latin typeface="Söhne"/>
              </a:rPr>
              <a:t>enhances performance without extensive feature engineering or language-specific knowledge</a:t>
            </a:r>
          </a:p>
          <a:p>
            <a:endParaRPr lang="en-IN" dirty="0"/>
          </a:p>
        </p:txBody>
      </p:sp>
    </p:spTree>
    <p:extLst>
      <p:ext uri="{BB962C8B-B14F-4D97-AF65-F5344CB8AC3E}">
        <p14:creationId xmlns:p14="http://schemas.microsoft.com/office/powerpoint/2010/main" val="1739729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9" name="Table 4"/>
          <p:cNvGraphicFramePr/>
          <p:nvPr/>
        </p:nvGraphicFramePr>
        <p:xfrm>
          <a:off x="603360" y="1722600"/>
          <a:ext cx="10985040" cy="4438800"/>
        </p:xfrm>
        <a:graphic>
          <a:graphicData uri="http://schemas.openxmlformats.org/drawingml/2006/table">
            <a:tbl>
              <a:tblPr/>
              <a:tblGrid>
                <a:gridCol w="717840">
                  <a:extLst>
                    <a:ext uri="{9D8B030D-6E8A-4147-A177-3AD203B41FA5}">
                      <a16:colId xmlns:a16="http://schemas.microsoft.com/office/drawing/2014/main" val="20000"/>
                    </a:ext>
                  </a:extLst>
                </a:gridCol>
                <a:gridCol w="1712520">
                  <a:extLst>
                    <a:ext uri="{9D8B030D-6E8A-4147-A177-3AD203B41FA5}">
                      <a16:colId xmlns:a16="http://schemas.microsoft.com/office/drawing/2014/main" val="20001"/>
                    </a:ext>
                  </a:extLst>
                </a:gridCol>
                <a:gridCol w="2137680">
                  <a:extLst>
                    <a:ext uri="{9D8B030D-6E8A-4147-A177-3AD203B41FA5}">
                      <a16:colId xmlns:a16="http://schemas.microsoft.com/office/drawing/2014/main" val="20002"/>
                    </a:ext>
                  </a:extLst>
                </a:gridCol>
                <a:gridCol w="2903040">
                  <a:extLst>
                    <a:ext uri="{9D8B030D-6E8A-4147-A177-3AD203B41FA5}">
                      <a16:colId xmlns:a16="http://schemas.microsoft.com/office/drawing/2014/main" val="20003"/>
                    </a:ext>
                  </a:extLst>
                </a:gridCol>
                <a:gridCol w="3513960">
                  <a:extLst>
                    <a:ext uri="{9D8B030D-6E8A-4147-A177-3AD203B41FA5}">
                      <a16:colId xmlns:a16="http://schemas.microsoft.com/office/drawing/2014/main" val="20004"/>
                    </a:ext>
                  </a:extLst>
                </a:gridCol>
              </a:tblGrid>
              <a:tr h="1082520">
                <a:tc>
                  <a:txBody>
                    <a:bodyPr/>
                    <a:lstStyle/>
                    <a:p>
                      <a:pPr algn="ctr">
                        <a:lnSpc>
                          <a:spcPct val="100000"/>
                        </a:lnSpc>
                        <a:tabLst>
                          <a:tab pos="0" algn="l"/>
                        </a:tabLst>
                      </a:pPr>
                      <a:r>
                        <a:rPr lang="en-IN" sz="1800" b="1" strike="noStrike" spc="-1">
                          <a:solidFill>
                            <a:srgbClr val="B52A54"/>
                          </a:solidFill>
                          <a:latin typeface="Times New Roman"/>
                          <a:ea typeface="DejaVu Sans"/>
                        </a:rPr>
                        <a:t>S.No</a:t>
                      </a:r>
                      <a:endParaRPr lang="en-US" sz="1800" b="0" strike="noStrike" spc="-1">
                        <a:latin typeface="Arial"/>
                      </a:endParaRPr>
                    </a:p>
                    <a:p>
                      <a:pPr algn="ctr">
                        <a:lnSpc>
                          <a:spcPct val="100000"/>
                        </a:lnSpc>
                        <a:tabLst>
                          <a:tab pos="0" algn="l"/>
                        </a:tabLst>
                      </a:pPr>
                      <a:endParaRPr lang="en-US" sz="18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800" b="1" strike="noStrike" spc="-1">
                          <a:solidFill>
                            <a:srgbClr val="B52A54"/>
                          </a:solidFill>
                          <a:latin typeface="Times New Roman"/>
                          <a:ea typeface="DejaVu Sans"/>
                        </a:rPr>
                        <a:t>PAPER NAME</a:t>
                      </a:r>
                      <a:endParaRPr lang="en-US" sz="1800" b="0" strike="noStrike" spc="-1">
                        <a:latin typeface="Arial"/>
                      </a:endParaRPr>
                    </a:p>
                    <a:p>
                      <a:pPr algn="ctr">
                        <a:lnSpc>
                          <a:spcPct val="100000"/>
                        </a:lnSpc>
                        <a:tabLst>
                          <a:tab pos="0" algn="l"/>
                        </a:tabLst>
                      </a:pPr>
                      <a:endParaRPr lang="en-US" sz="18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800" b="1" strike="noStrike" spc="-1">
                          <a:solidFill>
                            <a:srgbClr val="B52A54"/>
                          </a:solidFill>
                          <a:latin typeface="Times New Roman"/>
                          <a:ea typeface="DejaVu Sans"/>
                        </a:rPr>
                        <a:t>AUTHOR NAME</a:t>
                      </a:r>
                      <a:endParaRPr lang="en-US" sz="1800" b="0" strike="noStrike" spc="-1">
                        <a:latin typeface="Arial"/>
                      </a:endParaRPr>
                    </a:p>
                    <a:p>
                      <a:pPr algn="ctr">
                        <a:lnSpc>
                          <a:spcPct val="100000"/>
                        </a:lnSpc>
                        <a:tabLst>
                          <a:tab pos="0" algn="l"/>
                        </a:tabLst>
                      </a:pPr>
                      <a:endParaRPr lang="en-US" sz="18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800" b="1" strike="noStrike" spc="-1">
                          <a:solidFill>
                            <a:srgbClr val="B52A54"/>
                          </a:solidFill>
                          <a:latin typeface="Times New Roman"/>
                          <a:ea typeface="DejaVu Sans"/>
                        </a:rPr>
                        <a:t>ALGORITHM / METHOD USED</a:t>
                      </a:r>
                      <a:endParaRPr lang="en-US" sz="1800" b="0" strike="noStrike" spc="-1">
                        <a:latin typeface="Arial"/>
                      </a:endParaRPr>
                    </a:p>
                    <a:p>
                      <a:pPr algn="ctr">
                        <a:lnSpc>
                          <a:spcPct val="100000"/>
                        </a:lnSpc>
                        <a:tabLst>
                          <a:tab pos="0" algn="l"/>
                        </a:tabLst>
                      </a:pPr>
                      <a:endParaRPr lang="en-US" sz="18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800" b="1" strike="noStrike" spc="-1">
                          <a:solidFill>
                            <a:srgbClr val="B52A54"/>
                          </a:solidFill>
                          <a:latin typeface="Times New Roman"/>
                          <a:ea typeface="DejaVu Sans"/>
                        </a:rPr>
                        <a:t>OPEN PROBLEM</a:t>
                      </a:r>
                      <a:endParaRPr lang="en-US" sz="1800" b="0" strike="noStrike" spc="-1">
                        <a:latin typeface="Arial"/>
                      </a:endParaRPr>
                    </a:p>
                    <a:p>
                      <a:pPr algn="ctr">
                        <a:lnSpc>
                          <a:spcPct val="100000"/>
                        </a:lnSpc>
                        <a:tabLst>
                          <a:tab pos="0" algn="l"/>
                        </a:tabLst>
                      </a:pPr>
                      <a:endParaRPr lang="en-US" sz="18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extLst>
                  <a:ext uri="{0D108BD9-81ED-4DB2-BD59-A6C34878D82A}">
                    <a16:rowId xmlns:a16="http://schemas.microsoft.com/office/drawing/2014/main" val="10000"/>
                  </a:ext>
                </a:extLst>
              </a:tr>
              <a:tr h="3356280">
                <a:tc>
                  <a:txBody>
                    <a:bodyPr/>
                    <a:lstStyle/>
                    <a:p>
                      <a:pPr>
                        <a:lnSpc>
                          <a:spcPct val="100000"/>
                        </a:lnSpc>
                      </a:pPr>
                      <a:r>
                        <a:rPr lang="en-IN" sz="1800" b="0" strike="noStrike" spc="-1">
                          <a:solidFill>
                            <a:srgbClr val="000000"/>
                          </a:solidFill>
                          <a:latin typeface="Times New Roman"/>
                          <a:ea typeface="DejaVu Sans"/>
                        </a:rPr>
                        <a:t>1.</a:t>
                      </a:r>
                      <a:endParaRPr lang="en-US" sz="18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pPr>
                      <a:r>
                        <a:rPr lang="en-US" sz="1800" b="0" strike="noStrike" spc="-1">
                          <a:solidFill>
                            <a:srgbClr val="000000"/>
                          </a:solidFill>
                          <a:latin typeface="Times New Roman"/>
                          <a:ea typeface="DejaVu Sans"/>
                        </a:rPr>
                        <a:t>Graph Neural Networks with Generated Parameters for Relation</a:t>
                      </a:r>
                      <a:endParaRPr lang="en-US" sz="1800" b="0" strike="noStrike" spc="-1">
                        <a:latin typeface="Arial"/>
                      </a:endParaRPr>
                    </a:p>
                    <a:p>
                      <a:pPr>
                        <a:lnSpc>
                          <a:spcPct val="100000"/>
                        </a:lnSpc>
                      </a:pPr>
                      <a:r>
                        <a:rPr lang="en-US" sz="1800" b="0" strike="noStrike" spc="-1">
                          <a:solidFill>
                            <a:srgbClr val="000000"/>
                          </a:solidFill>
                          <a:latin typeface="Times New Roman"/>
                          <a:ea typeface="DejaVu Sans"/>
                        </a:rPr>
                        <a:t>Extraction (2019)</a:t>
                      </a:r>
                      <a:endParaRPr lang="en-US" sz="18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pPr>
                      <a:r>
                        <a:rPr lang="en-IN" sz="1800" b="0" strike="noStrike" spc="-1">
                          <a:solidFill>
                            <a:srgbClr val="000000"/>
                          </a:solidFill>
                          <a:latin typeface="Times New Roman"/>
                          <a:ea typeface="DejaVu Sans"/>
                        </a:rPr>
                        <a:t>Hao Zhu, Yankai Lin, Zhiyuan Liu, Jie Fu, Tat-seng Chua, Maosong Sun</a:t>
                      </a:r>
                      <a:endParaRPr lang="en-US" sz="18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pPr>
                      <a:r>
                        <a:rPr lang="en-US" sz="1800" b="1" strike="noStrike" spc="-1">
                          <a:solidFill>
                            <a:srgbClr val="000000"/>
                          </a:solidFill>
                          <a:latin typeface="Times New Roman"/>
                          <a:ea typeface="DejaVu Sans"/>
                        </a:rPr>
                        <a:t>Graph neural network with generated parameters (</a:t>
                      </a:r>
                      <a:r>
                        <a:rPr lang="en-IN" sz="1800" b="1" strike="noStrike" spc="-1">
                          <a:solidFill>
                            <a:srgbClr val="000000"/>
                          </a:solidFill>
                          <a:latin typeface="Times New Roman"/>
                          <a:ea typeface="DejaVu Sans"/>
                        </a:rPr>
                        <a:t>GPGNNs)</a:t>
                      </a:r>
                      <a:endParaRPr lang="en-US" sz="1800" b="0" strike="noStrike" spc="-1">
                        <a:latin typeface="Arial"/>
                      </a:endParaRPr>
                    </a:p>
                    <a:p>
                      <a:pPr>
                        <a:lnSpc>
                          <a:spcPct val="100000"/>
                        </a:lnSpc>
                      </a:pPr>
                      <a:endParaRPr lang="en-US" sz="1800" b="0" strike="noStrike" spc="-1">
                        <a:latin typeface="Arial"/>
                      </a:endParaRPr>
                    </a:p>
                    <a:p>
                      <a:pPr>
                        <a:lnSpc>
                          <a:spcPct val="100000"/>
                        </a:lnSpc>
                      </a:pPr>
                      <a:r>
                        <a:rPr lang="en-US" sz="1800" b="0" strike="noStrike" spc="-1">
                          <a:solidFill>
                            <a:srgbClr val="000000"/>
                          </a:solidFill>
                          <a:latin typeface="Times New Roman"/>
                          <a:ea typeface="DejaVu Sans"/>
                        </a:rPr>
                        <a:t>The parameters in the propagation module are produced by a generator taking natural language sentences as inputs.</a:t>
                      </a: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pPr>
                      <a:r>
                        <a:rPr lang="en-US" sz="1800" b="0" strike="noStrike" spc="-1">
                          <a:solidFill>
                            <a:srgbClr val="000000"/>
                          </a:solidFill>
                          <a:latin typeface="Times New Roman"/>
                          <a:ea typeface="DejaVu Sans"/>
                        </a:rPr>
                        <a:t>The performance of relation extraction could be significantly improved by considering more multi hops in relational reasoning </a:t>
                      </a:r>
                      <a:endParaRPr lang="en-US" sz="18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extLst>
                  <a:ext uri="{0D108BD9-81ED-4DB2-BD59-A6C34878D82A}">
                    <a16:rowId xmlns:a16="http://schemas.microsoft.com/office/drawing/2014/main" val="10001"/>
                  </a:ext>
                </a:extLst>
              </a:tr>
            </a:tbl>
          </a:graphicData>
        </a:graphic>
      </p:graphicFrame>
      <p:sp>
        <p:nvSpPr>
          <p:cNvPr id="300" name="TextBox 1"/>
          <p:cNvSpPr/>
          <p:nvPr/>
        </p:nvSpPr>
        <p:spPr>
          <a:xfrm>
            <a:off x="3209040" y="406440"/>
            <a:ext cx="4994640" cy="820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 sz="4800" b="1" strike="noStrike" spc="-1">
                <a:solidFill>
                  <a:srgbClr val="E798B0"/>
                </a:solidFill>
                <a:latin typeface="Times New Roman"/>
                <a:ea typeface="DejaVu Sans"/>
              </a:rPr>
              <a:t>Literature Survey</a:t>
            </a:r>
            <a:endParaRPr lang="en-US" sz="4800" b="0" strike="noStrike" spc="-1">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1" name="Table 4"/>
          <p:cNvGraphicFramePr/>
          <p:nvPr>
            <p:extLst>
              <p:ext uri="{D42A27DB-BD31-4B8C-83A1-F6EECF244321}">
                <p14:modId xmlns:p14="http://schemas.microsoft.com/office/powerpoint/2010/main" val="2265557689"/>
              </p:ext>
            </p:extLst>
          </p:nvPr>
        </p:nvGraphicFramePr>
        <p:xfrm>
          <a:off x="643320" y="838080"/>
          <a:ext cx="10886400" cy="4869000"/>
        </p:xfrm>
        <a:graphic>
          <a:graphicData uri="http://schemas.openxmlformats.org/drawingml/2006/table">
            <a:tbl>
              <a:tblPr/>
              <a:tblGrid>
                <a:gridCol w="711360">
                  <a:extLst>
                    <a:ext uri="{9D8B030D-6E8A-4147-A177-3AD203B41FA5}">
                      <a16:colId xmlns:a16="http://schemas.microsoft.com/office/drawing/2014/main" val="20000"/>
                    </a:ext>
                  </a:extLst>
                </a:gridCol>
                <a:gridCol w="1697040">
                  <a:extLst>
                    <a:ext uri="{9D8B030D-6E8A-4147-A177-3AD203B41FA5}">
                      <a16:colId xmlns:a16="http://schemas.microsoft.com/office/drawing/2014/main" val="20001"/>
                    </a:ext>
                  </a:extLst>
                </a:gridCol>
                <a:gridCol w="2118600">
                  <a:extLst>
                    <a:ext uri="{9D8B030D-6E8A-4147-A177-3AD203B41FA5}">
                      <a16:colId xmlns:a16="http://schemas.microsoft.com/office/drawing/2014/main" val="20002"/>
                    </a:ext>
                  </a:extLst>
                </a:gridCol>
                <a:gridCol w="2877120">
                  <a:extLst>
                    <a:ext uri="{9D8B030D-6E8A-4147-A177-3AD203B41FA5}">
                      <a16:colId xmlns:a16="http://schemas.microsoft.com/office/drawing/2014/main" val="20003"/>
                    </a:ext>
                  </a:extLst>
                </a:gridCol>
                <a:gridCol w="3482280">
                  <a:extLst>
                    <a:ext uri="{9D8B030D-6E8A-4147-A177-3AD203B41FA5}">
                      <a16:colId xmlns:a16="http://schemas.microsoft.com/office/drawing/2014/main" val="20004"/>
                    </a:ext>
                  </a:extLst>
                </a:gridCol>
              </a:tblGrid>
              <a:tr h="851040">
                <a:tc>
                  <a:txBody>
                    <a:bodyPr/>
                    <a:lstStyle/>
                    <a:p>
                      <a:pPr algn="ctr">
                        <a:lnSpc>
                          <a:spcPct val="100000"/>
                        </a:lnSpc>
                        <a:tabLst>
                          <a:tab pos="0" algn="l"/>
                        </a:tabLst>
                      </a:pPr>
                      <a:r>
                        <a:rPr lang="en-IN" sz="1800" b="1" strike="noStrike" spc="-1" dirty="0" err="1">
                          <a:solidFill>
                            <a:srgbClr val="B52A54"/>
                          </a:solidFill>
                          <a:latin typeface="Times New Roman"/>
                          <a:ea typeface="DejaVu Sans"/>
                        </a:rPr>
                        <a:t>S.No</a:t>
                      </a:r>
                      <a:endParaRPr lang="en-US" sz="1800" b="0" strike="noStrike" spc="-1" dirty="0" err="1">
                        <a:latin typeface="Arial"/>
                      </a:endParaRPr>
                    </a:p>
                    <a:p>
                      <a:pPr algn="ctr">
                        <a:lnSpc>
                          <a:spcPct val="100000"/>
                        </a:lnSpc>
                        <a:tabLst>
                          <a:tab pos="0" algn="l"/>
                        </a:tabLst>
                      </a:pPr>
                      <a:endParaRPr lang="en-US" sz="18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800" b="1" strike="noStrike" spc="-1" dirty="0">
                          <a:solidFill>
                            <a:srgbClr val="B52A54"/>
                          </a:solidFill>
                          <a:latin typeface="Times New Roman"/>
                          <a:ea typeface="DejaVu Sans"/>
                        </a:rPr>
                        <a:t>PAPER NAME</a:t>
                      </a:r>
                      <a:endParaRPr lang="en-US" sz="1800" b="0" strike="noStrike" spc="-1" dirty="0">
                        <a:latin typeface="Arial"/>
                      </a:endParaRPr>
                    </a:p>
                    <a:p>
                      <a:pPr algn="ctr">
                        <a:lnSpc>
                          <a:spcPct val="100000"/>
                        </a:lnSpc>
                        <a:tabLst>
                          <a:tab pos="0" algn="l"/>
                        </a:tabLst>
                      </a:pPr>
                      <a:endParaRPr lang="en-US" sz="18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800" b="1" strike="noStrike" spc="-1" dirty="0">
                          <a:solidFill>
                            <a:srgbClr val="B52A54"/>
                          </a:solidFill>
                          <a:latin typeface="Times New Roman"/>
                          <a:ea typeface="DejaVu Sans"/>
                        </a:rPr>
                        <a:t>AUTHOR NAME</a:t>
                      </a:r>
                      <a:endParaRPr lang="en-US" sz="1800" b="0" strike="noStrike" spc="-1" dirty="0">
                        <a:latin typeface="Arial"/>
                      </a:endParaRPr>
                    </a:p>
                    <a:p>
                      <a:pPr algn="ctr">
                        <a:lnSpc>
                          <a:spcPct val="100000"/>
                        </a:lnSpc>
                        <a:tabLst>
                          <a:tab pos="0" algn="l"/>
                        </a:tabLst>
                      </a:pPr>
                      <a:endParaRPr lang="en-US" sz="18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800" b="1" strike="noStrike" spc="-1" dirty="0">
                          <a:solidFill>
                            <a:srgbClr val="B52A54"/>
                          </a:solidFill>
                          <a:latin typeface="Times New Roman"/>
                          <a:ea typeface="DejaVu Sans"/>
                        </a:rPr>
                        <a:t>ALGORITHM/METHOD USED</a:t>
                      </a:r>
                      <a:endParaRPr lang="en-US" sz="1800" b="0" strike="noStrike" spc="-1" dirty="0">
                        <a:latin typeface="Arial"/>
                      </a:endParaRPr>
                    </a:p>
                    <a:p>
                      <a:pPr algn="ctr">
                        <a:lnSpc>
                          <a:spcPct val="100000"/>
                        </a:lnSpc>
                        <a:tabLst>
                          <a:tab pos="0" algn="l"/>
                        </a:tabLst>
                      </a:pPr>
                      <a:endParaRPr lang="en-US" sz="18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800" b="1" strike="noStrike" spc="-1" dirty="0">
                          <a:solidFill>
                            <a:srgbClr val="B52A54"/>
                          </a:solidFill>
                          <a:latin typeface="Times New Roman"/>
                          <a:ea typeface="DejaVu Sans"/>
                        </a:rPr>
                        <a:t>OPEN PROBLEM</a:t>
                      </a:r>
                      <a:endParaRPr lang="en-US" sz="1800" b="0" strike="noStrike" spc="-1" dirty="0">
                        <a:latin typeface="Arial"/>
                      </a:endParaRPr>
                    </a:p>
                    <a:p>
                      <a:pPr algn="ctr">
                        <a:lnSpc>
                          <a:spcPct val="100000"/>
                        </a:lnSpc>
                        <a:tabLst>
                          <a:tab pos="0" algn="l"/>
                        </a:tabLst>
                      </a:pPr>
                      <a:endParaRPr lang="en-US" sz="18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extLst>
                  <a:ext uri="{0D108BD9-81ED-4DB2-BD59-A6C34878D82A}">
                    <a16:rowId xmlns:a16="http://schemas.microsoft.com/office/drawing/2014/main" val="10000"/>
                  </a:ext>
                </a:extLst>
              </a:tr>
              <a:tr h="3954600">
                <a:tc>
                  <a:txBody>
                    <a:bodyPr/>
                    <a:lstStyle/>
                    <a:p>
                      <a:pPr>
                        <a:lnSpc>
                          <a:spcPct val="100000"/>
                        </a:lnSpc>
                      </a:pPr>
                      <a:r>
                        <a:rPr lang="en-IN" sz="1800" b="0" strike="noStrike" spc="-1">
                          <a:solidFill>
                            <a:srgbClr val="000000"/>
                          </a:solidFill>
                          <a:latin typeface="Times New Roman"/>
                          <a:ea typeface="DejaVu Sans"/>
                        </a:rPr>
                        <a:t>2.</a:t>
                      </a:r>
                      <a:endParaRPr lang="en-US" sz="18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pPr>
                      <a:r>
                        <a:rPr lang="en-US" sz="1800" b="0" strike="noStrike" spc="-1" dirty="0">
                          <a:solidFill>
                            <a:srgbClr val="000000"/>
                          </a:solidFill>
                          <a:latin typeface="Times New Roman"/>
                          <a:ea typeface="DejaVu Sans"/>
                        </a:rPr>
                        <a:t>Graph Convolutional Networks for Named Entity Recognition</a:t>
                      </a:r>
                      <a:endParaRPr lang="en-US" sz="1800" b="0" strike="noStrike" spc="-1" dirty="0">
                        <a:latin typeface="Arial"/>
                      </a:endParaRPr>
                    </a:p>
                    <a:p>
                      <a:pPr>
                        <a:lnSpc>
                          <a:spcPct val="100000"/>
                        </a:lnSpc>
                      </a:pPr>
                      <a:r>
                        <a:rPr lang="en-US" sz="1800" b="0" strike="noStrike" spc="-1" dirty="0">
                          <a:solidFill>
                            <a:srgbClr val="000000"/>
                          </a:solidFill>
                          <a:latin typeface="Times New Roman"/>
                          <a:ea typeface="DejaVu Sans"/>
                        </a:rPr>
                        <a:t>(2017)</a:t>
                      </a:r>
                      <a:endParaRPr lang="en-US" sz="1800" b="0" strike="noStrike" spc="-1" dirty="0">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pPr>
                      <a:r>
                        <a:rPr lang="en-IN" sz="1800" b="0" strike="noStrike" spc="-1" dirty="0" err="1">
                          <a:solidFill>
                            <a:srgbClr val="000000"/>
                          </a:solidFill>
                          <a:latin typeface="Times New Roman"/>
                          <a:ea typeface="DejaVu Sans"/>
                        </a:rPr>
                        <a:t>Cetoli</a:t>
                      </a:r>
                      <a:r>
                        <a:rPr lang="en-IN" sz="1800" b="0" strike="noStrike" spc="-1" dirty="0">
                          <a:solidFill>
                            <a:srgbClr val="000000"/>
                          </a:solidFill>
                          <a:latin typeface="Times New Roman"/>
                          <a:ea typeface="DejaVu Sans"/>
                        </a:rPr>
                        <a:t>, Alberto Bragaglia, Stefano </a:t>
                      </a:r>
                      <a:r>
                        <a:rPr lang="en-IN" sz="1800" b="0" strike="noStrike" spc="-1" dirty="0" err="1">
                          <a:solidFill>
                            <a:srgbClr val="000000"/>
                          </a:solidFill>
                          <a:latin typeface="Times New Roman"/>
                          <a:ea typeface="DejaVu Sans"/>
                        </a:rPr>
                        <a:t>O’Harney</a:t>
                      </a:r>
                      <a:r>
                        <a:rPr lang="en-IN" sz="1800" b="0" strike="noStrike" spc="-1" dirty="0">
                          <a:solidFill>
                            <a:srgbClr val="000000"/>
                          </a:solidFill>
                          <a:latin typeface="Times New Roman"/>
                          <a:ea typeface="DejaVu Sans"/>
                        </a:rPr>
                        <a:t>, Andrew Daniel Sloan, Marc Context Scout </a:t>
                      </a:r>
                      <a:endParaRPr lang="en-US" sz="18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pPr>
                      <a:r>
                        <a:rPr lang="en-IN" sz="1800" b="1" strike="noStrike" spc="-1" dirty="0">
                          <a:solidFill>
                            <a:srgbClr val="000000"/>
                          </a:solidFill>
                          <a:latin typeface="Times New Roman"/>
                          <a:ea typeface="DejaVu Sans"/>
                        </a:rPr>
                        <a:t>Bi - Long short-term memory (Bi-LSTM)</a:t>
                      </a:r>
                      <a:endParaRPr lang="en-US" sz="1800" b="0" strike="noStrike" spc="-1" dirty="0">
                        <a:latin typeface="Arial"/>
                      </a:endParaRPr>
                    </a:p>
                    <a:p>
                      <a:pPr>
                        <a:lnSpc>
                          <a:spcPct val="100000"/>
                        </a:lnSpc>
                      </a:pPr>
                      <a:r>
                        <a:rPr lang="en-US" sz="1800" b="0" strike="noStrike" spc="-1" dirty="0">
                          <a:solidFill>
                            <a:srgbClr val="000000"/>
                          </a:solidFill>
                          <a:latin typeface="Times New Roman"/>
                          <a:ea typeface="DejaVu Sans"/>
                        </a:rPr>
                        <a:t>It enhance the performance of the model on sequence classification problems</a:t>
                      </a:r>
                      <a:endParaRPr lang="en-US" sz="1800" b="0" strike="noStrike" spc="-1">
                        <a:latin typeface="Arial"/>
                      </a:endParaRPr>
                    </a:p>
                    <a:p>
                      <a:pPr>
                        <a:lnSpc>
                          <a:spcPct val="100000"/>
                        </a:lnSpc>
                      </a:pPr>
                      <a:endParaRPr lang="en-US" sz="1800" b="0" strike="noStrike" spc="-1">
                        <a:latin typeface="Arial"/>
                      </a:endParaRPr>
                    </a:p>
                    <a:p>
                      <a:pPr>
                        <a:lnSpc>
                          <a:spcPct val="100000"/>
                        </a:lnSpc>
                      </a:pPr>
                      <a:r>
                        <a:rPr lang="en-IN" sz="1800" b="1" strike="noStrike" spc="-1" dirty="0">
                          <a:solidFill>
                            <a:srgbClr val="000000"/>
                          </a:solidFill>
                          <a:latin typeface="Times New Roman"/>
                          <a:ea typeface="DejaVu Sans"/>
                        </a:rPr>
                        <a:t>Bi - Graph Convolutional Networks (Bi-GCN)</a:t>
                      </a:r>
                      <a:endParaRPr lang="en-US" sz="1800" b="0" strike="noStrike" spc="-1">
                        <a:latin typeface="Arial"/>
                      </a:endParaRPr>
                    </a:p>
                    <a:p>
                      <a:pPr>
                        <a:lnSpc>
                          <a:spcPct val="100000"/>
                        </a:lnSpc>
                      </a:pPr>
                      <a:r>
                        <a:rPr lang="en-US" sz="1800" b="0" strike="noStrike" spc="-1" dirty="0">
                          <a:solidFill>
                            <a:srgbClr val="000000"/>
                          </a:solidFill>
                          <a:latin typeface="Times New Roman"/>
                          <a:ea typeface="DejaVu Sans"/>
                        </a:rPr>
                        <a:t>It binarizes both the network parameters and input node features. </a:t>
                      </a:r>
                      <a:endParaRPr lang="en-US" sz="1800" b="0" strike="noStrike" spc="-1" dirty="0">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pPr>
                      <a:r>
                        <a:rPr lang="en-US" sz="1800" b="0" strike="noStrike" spc="-1" dirty="0">
                          <a:solidFill>
                            <a:srgbClr val="000000"/>
                          </a:solidFill>
                          <a:latin typeface="Times New Roman"/>
                          <a:ea typeface="DejaVu Sans"/>
                        </a:rPr>
                        <a:t>Gating of the components of input vectors</a:t>
                      </a:r>
                      <a:endParaRPr lang="en-US" sz="1800" b="0" strike="noStrike" spc="-1" dirty="0">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r>
                        <a:rPr lang="en-IN" sz="1800" b="0" strike="noStrike" spc="-1" dirty="0">
                          <a:solidFill>
                            <a:srgbClr val="000000"/>
                          </a:solidFill>
                          <a:latin typeface="Times New Roman"/>
                          <a:ea typeface="DejaVu Sans"/>
                        </a:rPr>
                        <a:t>Neighbouring word prediction</a:t>
                      </a:r>
                      <a:endParaRPr lang="en-US" sz="1800" b="0" strike="noStrike" spc="-1" dirty="0">
                        <a:latin typeface="Arial"/>
                      </a:endParaRPr>
                    </a:p>
                    <a:p>
                      <a:pPr>
                        <a:lnSpc>
                          <a:spcPct val="100000"/>
                        </a:lnSpc>
                      </a:pPr>
                      <a:r>
                        <a:rPr lang="en-IN" sz="1800" b="0" strike="noStrike" spc="-1" dirty="0">
                          <a:solidFill>
                            <a:srgbClr val="000000"/>
                          </a:solidFill>
                          <a:latin typeface="Times New Roman"/>
                          <a:ea typeface="DejaVu Sans"/>
                        </a:rPr>
                        <a:t>It c</a:t>
                      </a:r>
                      <a:r>
                        <a:rPr lang="en-US" sz="1800" b="0" strike="noStrike" spc="-1" dirty="0">
                          <a:solidFill>
                            <a:srgbClr val="000000"/>
                          </a:solidFill>
                          <a:latin typeface="Times New Roman"/>
                          <a:ea typeface="DejaVu Sans"/>
                        </a:rPr>
                        <a:t>considers the last word of a particular sentence and predict the next possible word.</a:t>
                      </a:r>
                      <a:endParaRPr lang="en-US" sz="1800" b="0" strike="noStrike" spc="-1" dirty="0">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3" name="Table 4"/>
          <p:cNvGraphicFramePr/>
          <p:nvPr/>
        </p:nvGraphicFramePr>
        <p:xfrm>
          <a:off x="256680" y="969840"/>
          <a:ext cx="11678040" cy="5454720"/>
        </p:xfrm>
        <a:graphic>
          <a:graphicData uri="http://schemas.openxmlformats.org/drawingml/2006/table">
            <a:tbl>
              <a:tblPr/>
              <a:tblGrid>
                <a:gridCol w="644040">
                  <a:extLst>
                    <a:ext uri="{9D8B030D-6E8A-4147-A177-3AD203B41FA5}">
                      <a16:colId xmlns:a16="http://schemas.microsoft.com/office/drawing/2014/main" val="20000"/>
                    </a:ext>
                  </a:extLst>
                </a:gridCol>
                <a:gridCol w="2334600">
                  <a:extLst>
                    <a:ext uri="{9D8B030D-6E8A-4147-A177-3AD203B41FA5}">
                      <a16:colId xmlns:a16="http://schemas.microsoft.com/office/drawing/2014/main" val="20001"/>
                    </a:ext>
                  </a:extLst>
                </a:gridCol>
                <a:gridCol w="2574360">
                  <a:extLst>
                    <a:ext uri="{9D8B030D-6E8A-4147-A177-3AD203B41FA5}">
                      <a16:colId xmlns:a16="http://schemas.microsoft.com/office/drawing/2014/main" val="20002"/>
                    </a:ext>
                  </a:extLst>
                </a:gridCol>
                <a:gridCol w="2913840">
                  <a:extLst>
                    <a:ext uri="{9D8B030D-6E8A-4147-A177-3AD203B41FA5}">
                      <a16:colId xmlns:a16="http://schemas.microsoft.com/office/drawing/2014/main" val="20003"/>
                    </a:ext>
                  </a:extLst>
                </a:gridCol>
                <a:gridCol w="3211200">
                  <a:extLst>
                    <a:ext uri="{9D8B030D-6E8A-4147-A177-3AD203B41FA5}">
                      <a16:colId xmlns:a16="http://schemas.microsoft.com/office/drawing/2014/main" val="20004"/>
                    </a:ext>
                  </a:extLst>
                </a:gridCol>
              </a:tblGrid>
              <a:tr h="974160">
                <a:tc>
                  <a:txBody>
                    <a:bodyPr/>
                    <a:lstStyle/>
                    <a:p>
                      <a:pPr algn="ctr">
                        <a:lnSpc>
                          <a:spcPct val="100000"/>
                        </a:lnSpc>
                        <a:tabLst>
                          <a:tab pos="0" algn="l"/>
                        </a:tabLst>
                      </a:pPr>
                      <a:r>
                        <a:rPr lang="en-IN" sz="1800" b="1" strike="noStrike" spc="-1">
                          <a:solidFill>
                            <a:srgbClr val="B52A54"/>
                          </a:solidFill>
                          <a:latin typeface="Times New Roman"/>
                          <a:ea typeface="DejaVu Sans"/>
                        </a:rPr>
                        <a:t>S.No</a:t>
                      </a:r>
                      <a:endParaRPr lang="en-US" sz="1800" b="0" strike="noStrike" spc="-1">
                        <a:latin typeface="Arial"/>
                      </a:endParaRPr>
                    </a:p>
                    <a:p>
                      <a:pPr algn="ctr">
                        <a:lnSpc>
                          <a:spcPct val="100000"/>
                        </a:lnSpc>
                        <a:tabLst>
                          <a:tab pos="0" algn="l"/>
                        </a:tabLst>
                      </a:pPr>
                      <a:endParaRPr lang="en-US" sz="18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800" b="1" strike="noStrike" spc="-1">
                          <a:solidFill>
                            <a:srgbClr val="B52A54"/>
                          </a:solidFill>
                          <a:latin typeface="Times New Roman"/>
                          <a:ea typeface="DejaVu Sans"/>
                        </a:rPr>
                        <a:t>PAPER NAME</a:t>
                      </a:r>
                      <a:endParaRPr lang="en-US" sz="1800" b="0" strike="noStrike" spc="-1">
                        <a:latin typeface="Arial"/>
                      </a:endParaRPr>
                    </a:p>
                    <a:p>
                      <a:pPr algn="ctr">
                        <a:lnSpc>
                          <a:spcPct val="100000"/>
                        </a:lnSpc>
                        <a:tabLst>
                          <a:tab pos="0" algn="l"/>
                        </a:tabLst>
                      </a:pPr>
                      <a:endParaRPr lang="en-US" sz="18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800" b="1" strike="noStrike" spc="-1">
                          <a:solidFill>
                            <a:srgbClr val="B52A54"/>
                          </a:solidFill>
                          <a:latin typeface="Times New Roman"/>
                          <a:ea typeface="DejaVu Sans"/>
                        </a:rPr>
                        <a:t>AUTHOR NAME</a:t>
                      </a:r>
                      <a:endParaRPr lang="en-US" sz="1800" b="0" strike="noStrike" spc="-1">
                        <a:latin typeface="Arial"/>
                      </a:endParaRPr>
                    </a:p>
                    <a:p>
                      <a:pPr algn="ctr">
                        <a:lnSpc>
                          <a:spcPct val="100000"/>
                        </a:lnSpc>
                        <a:tabLst>
                          <a:tab pos="0" algn="l"/>
                        </a:tabLst>
                      </a:pPr>
                      <a:endParaRPr lang="en-US" sz="18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800" b="1" strike="noStrike" spc="-1">
                          <a:solidFill>
                            <a:srgbClr val="B52A54"/>
                          </a:solidFill>
                          <a:latin typeface="Times New Roman"/>
                          <a:ea typeface="DejaVu Sans"/>
                        </a:rPr>
                        <a:t>ALGORITHM/METHOD USED</a:t>
                      </a:r>
                      <a:endParaRPr lang="en-US" sz="1800" b="0" strike="noStrike" spc="-1">
                        <a:latin typeface="Arial"/>
                      </a:endParaRPr>
                    </a:p>
                    <a:p>
                      <a:pPr algn="ctr">
                        <a:lnSpc>
                          <a:spcPct val="100000"/>
                        </a:lnSpc>
                        <a:tabLst>
                          <a:tab pos="0" algn="l"/>
                        </a:tabLst>
                      </a:pPr>
                      <a:endParaRPr lang="en-US" sz="18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tc>
                  <a:txBody>
                    <a:bodyPr/>
                    <a:lstStyle/>
                    <a:p>
                      <a:pPr algn="ctr">
                        <a:lnSpc>
                          <a:spcPct val="100000"/>
                        </a:lnSpc>
                        <a:tabLst>
                          <a:tab pos="0" algn="l"/>
                        </a:tabLst>
                      </a:pPr>
                      <a:r>
                        <a:rPr lang="en-IN" sz="1800" b="1" strike="noStrike" spc="-1">
                          <a:solidFill>
                            <a:srgbClr val="B52A54"/>
                          </a:solidFill>
                          <a:latin typeface="Times New Roman"/>
                          <a:ea typeface="DejaVu Sans"/>
                        </a:rPr>
                        <a:t>OPEN PROBLEM</a:t>
                      </a:r>
                      <a:endParaRPr lang="en-US" sz="1800" b="0" strike="noStrike" spc="-1">
                        <a:latin typeface="Arial"/>
                      </a:endParaRPr>
                    </a:p>
                    <a:p>
                      <a:pPr algn="ctr">
                        <a:lnSpc>
                          <a:spcPct val="100000"/>
                        </a:lnSpc>
                        <a:tabLst>
                          <a:tab pos="0" algn="l"/>
                        </a:tabLst>
                      </a:pPr>
                      <a:endParaRPr lang="en-US" sz="1800" b="0" strike="noStrike" spc="-1">
                        <a:latin typeface="Arial"/>
                      </a:endParaRPr>
                    </a:p>
                  </a:txBody>
                  <a:tcPr marL="86040" marR="86040">
                    <a:lnL w="12240">
                      <a:solidFill>
                        <a:srgbClr val="FFFFFF"/>
                      </a:solidFill>
                    </a:lnL>
                    <a:lnR w="12240">
                      <a:solidFill>
                        <a:srgbClr val="FFFFFF"/>
                      </a:solidFill>
                    </a:lnR>
                    <a:lnT w="12240">
                      <a:solidFill>
                        <a:srgbClr val="FFFFFF"/>
                      </a:solidFill>
                    </a:lnT>
                    <a:lnB w="38160">
                      <a:solidFill>
                        <a:srgbClr val="FFFFFF"/>
                      </a:solidFill>
                    </a:lnB>
                    <a:solidFill>
                      <a:srgbClr val="000000"/>
                    </a:solidFill>
                  </a:tcPr>
                </a:tc>
                <a:extLst>
                  <a:ext uri="{0D108BD9-81ED-4DB2-BD59-A6C34878D82A}">
                    <a16:rowId xmlns:a16="http://schemas.microsoft.com/office/drawing/2014/main" val="10000"/>
                  </a:ext>
                </a:extLst>
              </a:tr>
              <a:tr h="4188600">
                <a:tc>
                  <a:txBody>
                    <a:bodyPr/>
                    <a:lstStyle/>
                    <a:p>
                      <a:pPr>
                        <a:lnSpc>
                          <a:spcPct val="100000"/>
                        </a:lnSpc>
                      </a:pPr>
                      <a:r>
                        <a:rPr lang="en-IN" sz="1800" b="0" strike="noStrike" spc="-1">
                          <a:solidFill>
                            <a:srgbClr val="000000"/>
                          </a:solidFill>
                          <a:latin typeface="Times New Roman"/>
                          <a:ea typeface="DejaVu Sans"/>
                        </a:rPr>
                        <a:t>4.</a:t>
                      </a:r>
                      <a:endParaRPr lang="en-US" sz="18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pPr>
                      <a:r>
                        <a:rPr lang="en-US" sz="1800" b="0" strike="noStrike" spc="-1">
                          <a:solidFill>
                            <a:srgbClr val="000000"/>
                          </a:solidFill>
                          <a:latin typeface="Times New Roman"/>
                          <a:ea typeface="DejaVu Sans"/>
                        </a:rPr>
                        <a:t>Named Entity Recognition and Relation Extraction with Graph Neural Networks in Semi Structured Documents </a:t>
                      </a:r>
                      <a:endParaRPr lang="en-US" sz="1800" b="0" strike="noStrike" spc="-1">
                        <a:latin typeface="Arial"/>
                      </a:endParaRPr>
                    </a:p>
                    <a:p>
                      <a:pPr>
                        <a:lnSpc>
                          <a:spcPct val="100000"/>
                        </a:lnSpc>
                      </a:pPr>
                      <a:r>
                        <a:rPr lang="en-US" sz="1800" b="0" strike="noStrike" spc="-1">
                          <a:solidFill>
                            <a:srgbClr val="000000"/>
                          </a:solidFill>
                          <a:latin typeface="Times New Roman"/>
                          <a:ea typeface="DejaVu Sans"/>
                        </a:rPr>
                        <a:t>(2021)</a:t>
                      </a:r>
                      <a:endParaRPr lang="en-US" sz="1800" b="0" strike="noStrike" spc="-1">
                        <a:latin typeface="Arial"/>
                      </a:endParaRPr>
                    </a:p>
                    <a:p>
                      <a:pPr>
                        <a:lnSpc>
                          <a:spcPct val="100000"/>
                        </a:lnSpc>
                      </a:pPr>
                      <a:endParaRPr lang="en-US" sz="18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pPr>
                      <a:r>
                        <a:rPr lang="en-IN" sz="1800" b="0" strike="noStrike" spc="-1">
                          <a:solidFill>
                            <a:srgbClr val="000000"/>
                          </a:solidFill>
                          <a:latin typeface="Times New Roman"/>
                          <a:ea typeface="DejaVu Sans"/>
                        </a:rPr>
                        <a:t>Manuel Carbonell, Pau Riba , Mauricio Villegas† , Alicia Fornes´, Josep Llados´ </a:t>
                      </a:r>
                      <a:endParaRPr lang="en-US" sz="18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pPr>
                      <a:r>
                        <a:rPr lang="en-IN" sz="1800" b="1" strike="noStrike" spc="-1">
                          <a:solidFill>
                            <a:srgbClr val="000000"/>
                          </a:solidFill>
                          <a:latin typeface="Times New Roman"/>
                          <a:ea typeface="DejaVu Sans"/>
                        </a:rPr>
                        <a:t>k-NN graph</a:t>
                      </a:r>
                      <a:endParaRPr lang="en-US" sz="1800" b="0" strike="noStrike" spc="-1">
                        <a:latin typeface="Arial"/>
                      </a:endParaRPr>
                    </a:p>
                    <a:p>
                      <a:pPr>
                        <a:lnSpc>
                          <a:spcPct val="100000"/>
                        </a:lnSpc>
                      </a:pPr>
                      <a:r>
                        <a:rPr lang="en-US" sz="1800" b="0" strike="noStrike" spc="-1">
                          <a:solidFill>
                            <a:srgbClr val="000000"/>
                          </a:solidFill>
                          <a:latin typeface="Times New Roman"/>
                          <a:ea typeface="DejaVu Sans"/>
                        </a:rPr>
                        <a:t>Edges between words are created using k nearest neighbors (k-NN) based on the distances of the top-left</a:t>
                      </a:r>
                      <a:br>
                        <a:rPr sz="1800"/>
                      </a:br>
                      <a:r>
                        <a:rPr lang="en-US" sz="1800" b="0" strike="noStrike" spc="-1">
                          <a:solidFill>
                            <a:srgbClr val="000000"/>
                          </a:solidFill>
                          <a:latin typeface="Times New Roman"/>
                          <a:ea typeface="DejaVu Sans"/>
                        </a:rPr>
                        <a:t>corner of the word bounding boxes.</a:t>
                      </a:r>
                      <a:endParaRPr lang="en-US" sz="1800" b="0" strike="noStrike" spc="-1">
                        <a:latin typeface="Arial"/>
                      </a:endParaRPr>
                    </a:p>
                    <a:p>
                      <a:pPr>
                        <a:lnSpc>
                          <a:spcPct val="100000"/>
                        </a:lnSpc>
                      </a:pPr>
                      <a:endParaRPr lang="en-US" sz="1800" b="0" strike="noStrike" spc="-1">
                        <a:latin typeface="Arial"/>
                      </a:endParaRPr>
                    </a:p>
                    <a:p>
                      <a:pPr>
                        <a:lnSpc>
                          <a:spcPct val="100000"/>
                        </a:lnSpc>
                      </a:pPr>
                      <a:r>
                        <a:rPr lang="en-IN" sz="1800" b="1" strike="noStrike" spc="-1">
                          <a:solidFill>
                            <a:srgbClr val="000000"/>
                          </a:solidFill>
                          <a:latin typeface="Times New Roman"/>
                          <a:ea typeface="DejaVu Sans"/>
                        </a:rPr>
                        <a:t>BERT </a:t>
                      </a:r>
                      <a:endParaRPr lang="en-US" sz="1800" b="0" strike="noStrike" spc="-1">
                        <a:latin typeface="Arial"/>
                      </a:endParaRPr>
                    </a:p>
                    <a:p>
                      <a:pPr>
                        <a:lnSpc>
                          <a:spcPct val="100000"/>
                        </a:lnSpc>
                      </a:pPr>
                      <a:endParaRPr lang="en-US" sz="1800" b="0" strike="noStrike" spc="-1">
                        <a:latin typeface="Arial"/>
                      </a:endParaRPr>
                    </a:p>
                    <a:p>
                      <a:pPr>
                        <a:lnSpc>
                          <a:spcPct val="100000"/>
                        </a:lnSpc>
                      </a:pPr>
                      <a:r>
                        <a:rPr lang="en-IN" sz="1800" b="1" strike="noStrike" spc="-1">
                          <a:solidFill>
                            <a:srgbClr val="000000"/>
                          </a:solidFill>
                          <a:latin typeface="Times New Roman"/>
                          <a:ea typeface="DejaVu Sans"/>
                        </a:rPr>
                        <a:t>F1 SCORE</a:t>
                      </a:r>
                      <a:endParaRPr lang="en-US" sz="1800" b="0" strike="noStrike" spc="-1">
                        <a:latin typeface="Arial"/>
                      </a:endParaRPr>
                    </a:p>
                    <a:p>
                      <a:pPr>
                        <a:lnSpc>
                          <a:spcPct val="100000"/>
                        </a:lnSpc>
                      </a:pPr>
                      <a:endParaRPr lang="en-US" sz="1800" b="0" strike="noStrike" spc="-1">
                        <a:latin typeface="Arial"/>
                      </a:endParaRPr>
                    </a:p>
                    <a:p>
                      <a:pPr>
                        <a:lnSpc>
                          <a:spcPct val="100000"/>
                        </a:lnSpc>
                      </a:pPr>
                      <a:r>
                        <a:rPr lang="en-IN" sz="1800" b="1" strike="noStrike" spc="-1">
                          <a:solidFill>
                            <a:srgbClr val="000000"/>
                          </a:solidFill>
                          <a:latin typeface="Times New Roman"/>
                          <a:ea typeface="DejaVu Sans"/>
                        </a:rPr>
                        <a:t>ARI</a:t>
                      </a: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tc>
                  <a:txBody>
                    <a:bodyPr/>
                    <a:lstStyle/>
                    <a:p>
                      <a:pPr>
                        <a:lnSpc>
                          <a:spcPct val="100000"/>
                        </a:lnSpc>
                      </a:pPr>
                      <a:r>
                        <a:rPr lang="en-IN" sz="1800" b="0" strike="noStrike" spc="-1">
                          <a:solidFill>
                            <a:srgbClr val="000000"/>
                          </a:solidFill>
                          <a:latin typeface="Times New Roman"/>
                          <a:ea typeface="DejaVu Sans"/>
                        </a:rPr>
                        <a:t>Method has been initially designed for administrative document understanding, but it shown that it can be adapted to other domains, as for example historical manuscripts. Further research tuning the method and testing on larger data sets could confirm the feasibility of the approach as a generic solution for extracting structured information from semi-structured documents.</a:t>
                      </a:r>
                      <a:endParaRPr lang="en-US" sz="1800" b="0" strike="noStrike" spc="-1">
                        <a:latin typeface="Arial"/>
                      </a:endParaRPr>
                    </a:p>
                  </a:txBody>
                  <a:tcPr marL="86040" marR="86040">
                    <a:lnL w="12240">
                      <a:solidFill>
                        <a:srgbClr val="FFFFFF"/>
                      </a:solidFill>
                    </a:lnL>
                    <a:lnR w="12240">
                      <a:solidFill>
                        <a:srgbClr val="FFFFFF"/>
                      </a:solidFill>
                    </a:lnR>
                    <a:lnT w="38160">
                      <a:solidFill>
                        <a:srgbClr val="FFFFFF"/>
                      </a:solidFill>
                    </a:lnT>
                    <a:lnB w="12240">
                      <a:solidFill>
                        <a:srgbClr val="FFFFFF"/>
                      </a:solidFill>
                    </a:lnB>
                    <a:solidFill>
                      <a:srgbClr val="CCCCCC"/>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 name="Title 3"/>
          <p:cNvSpPr txBox="1"/>
          <p:nvPr/>
        </p:nvSpPr>
        <p:spPr>
          <a:xfrm>
            <a:off x="1067400" y="43471"/>
            <a:ext cx="9905760" cy="1385280"/>
          </a:xfrm>
          <a:prstGeom prst="rect">
            <a:avLst/>
          </a:prstGeom>
          <a:noFill/>
          <a:ln w="0">
            <a:noFill/>
          </a:ln>
        </p:spPr>
        <p:txBody>
          <a:bodyPr anchor="ctr">
            <a:normAutofit/>
          </a:bodyPr>
          <a:lstStyle/>
          <a:p>
            <a:pPr algn="ctr">
              <a:lnSpc>
                <a:spcPct val="90000"/>
              </a:lnSpc>
            </a:pPr>
            <a:r>
              <a:rPr lang="en-US" sz="5400" b="1" strike="noStrike" cap="all" spc="-1" dirty="0">
                <a:solidFill>
                  <a:srgbClr val="E798B0"/>
                </a:solidFill>
                <a:latin typeface="Tw Cen MT"/>
              </a:rPr>
              <a:t>RESEARCH GAP</a:t>
            </a:r>
            <a:endParaRPr lang="en-US" sz="5400" b="0" strike="noStrike" spc="-1" dirty="0">
              <a:solidFill>
                <a:srgbClr val="FFFFFF"/>
              </a:solidFill>
              <a:latin typeface="Tw Cen MT"/>
            </a:endParaRPr>
          </a:p>
        </p:txBody>
      </p:sp>
      <p:sp>
        <p:nvSpPr>
          <p:cNvPr id="2" name="TextBox 1">
            <a:extLst>
              <a:ext uri="{FF2B5EF4-FFF2-40B4-BE49-F238E27FC236}">
                <a16:creationId xmlns:a16="http://schemas.microsoft.com/office/drawing/2014/main" id="{BE110C35-D081-E6C6-4B89-D7A26D4A24C8}"/>
              </a:ext>
            </a:extLst>
          </p:cNvPr>
          <p:cNvSpPr txBox="1"/>
          <p:nvPr/>
        </p:nvSpPr>
        <p:spPr>
          <a:xfrm>
            <a:off x="1067400" y="1803982"/>
            <a:ext cx="10161039" cy="4370427"/>
          </a:xfrm>
          <a:prstGeom prst="rect">
            <a:avLst/>
          </a:prstGeom>
          <a:noFill/>
        </p:spPr>
        <p:txBody>
          <a:bodyPr wrap="square" rtlCol="0">
            <a:spAutoFit/>
          </a:bodyPr>
          <a:lstStyle/>
          <a:p>
            <a:pPr marL="285750" indent="-285750" rtl="0">
              <a:buFont typeface="Arial" panose="020B0604020202020204" pitchFamily="34" charset="0"/>
              <a:buChar char="•"/>
            </a:pPr>
            <a:r>
              <a:rPr lang="en-US" sz="2000" dirty="0">
                <a:solidFill>
                  <a:schemeClr val="bg1"/>
                </a:solidFill>
                <a:effectLst/>
                <a:latin typeface="Times New Roman" panose="02020603050405020304" pitchFamily="18" charset="0"/>
                <a:cs typeface="Times New Roman" panose="02020603050405020304" pitchFamily="18" charset="0"/>
              </a:rPr>
              <a:t>In future GCNs can be used in conjunction with different techniques. Additional techniques includes  gating of the components of input vectors or neighboring word prediction should be tested together with GCNs. </a:t>
            </a:r>
          </a:p>
          <a:p>
            <a:endParaRPr lang="en-US" sz="2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In GP-GNN, the performance of relation extraction could be significantly improved by considering more multi hops in relational reasoning.</a:t>
            </a:r>
          </a:p>
          <a:p>
            <a:pPr marL="285750" indent="-285750">
              <a:buFont typeface="Arial" panose="020B0604020202020204" pitchFamily="34" charset="0"/>
              <a:buChar char="•"/>
            </a:pPr>
            <a:endPar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US" sz="2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It is a</a:t>
            </a:r>
            <a:r>
              <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generic framework for graph generation problem with unstructured input other than text, e.g. image, audio.</a:t>
            </a:r>
          </a:p>
          <a:p>
            <a:endPar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Since most of the NLP models are based on non Indian languages, so we would experiment on Indian language, Hindi.</a:t>
            </a:r>
          </a:p>
          <a:p>
            <a:endPar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0407259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 name="Title 1"/>
          <p:cNvSpPr/>
          <p:nvPr/>
        </p:nvSpPr>
        <p:spPr>
          <a:xfrm>
            <a:off x="2302186" y="149290"/>
            <a:ext cx="7272360" cy="126735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90000"/>
              </a:lnSpc>
            </a:pPr>
            <a:r>
              <a:rPr lang="en-US" sz="4800" b="1" strike="noStrike" cap="all" spc="-1" dirty="0">
                <a:solidFill>
                  <a:srgbClr val="E798B0"/>
                </a:solidFill>
                <a:latin typeface="Times New Roman"/>
                <a:ea typeface="DejaVu Sans"/>
              </a:rPr>
              <a:t>LANGUAGE &amp; TOOLS</a:t>
            </a:r>
            <a:endParaRPr lang="en-US" sz="4800" b="0" strike="noStrike" spc="-1" dirty="0">
              <a:latin typeface="Arial"/>
            </a:endParaRPr>
          </a:p>
        </p:txBody>
      </p:sp>
      <p:sp>
        <p:nvSpPr>
          <p:cNvPr id="316" name="Content Placeholder 2"/>
          <p:cNvSpPr/>
          <p:nvPr/>
        </p:nvSpPr>
        <p:spPr>
          <a:xfrm>
            <a:off x="1670181" y="1679510"/>
            <a:ext cx="5010538" cy="462798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fontScale="87500" lnSpcReduction="10000"/>
          </a:bodyPr>
          <a:lstStyle/>
          <a:p>
            <a:pPr>
              <a:lnSpc>
                <a:spcPct val="120000"/>
              </a:lnSpc>
              <a:tabLst>
                <a:tab pos="0" algn="l"/>
              </a:tabLst>
            </a:pPr>
            <a:r>
              <a:rPr lang="en-US" sz="2400" b="1" strike="noStrike" spc="-1" dirty="0">
                <a:solidFill>
                  <a:srgbClr val="A6A6A6"/>
                </a:solidFill>
                <a:latin typeface="Times New Roman"/>
                <a:ea typeface="DejaVu Sans"/>
              </a:rPr>
              <a:t>Language</a:t>
            </a:r>
            <a:r>
              <a:rPr lang="en-US" sz="2400" b="1" strike="noStrike" spc="-1" dirty="0">
                <a:solidFill>
                  <a:srgbClr val="FF0000"/>
                </a:solidFill>
                <a:latin typeface="Times New Roman"/>
                <a:ea typeface="DejaVu Sans"/>
              </a:rPr>
              <a:t> </a:t>
            </a:r>
            <a:endParaRPr lang="en-US" sz="2400" b="0" strike="noStrike" spc="-1" dirty="0">
              <a:latin typeface="Arial"/>
            </a:endParaRPr>
          </a:p>
          <a:p>
            <a:pPr marL="228600" indent="-228240">
              <a:lnSpc>
                <a:spcPct val="120000"/>
              </a:lnSpc>
              <a:buClr>
                <a:srgbClr val="FFFFFF"/>
              </a:buClr>
              <a:buFont typeface="Arial"/>
              <a:buChar char="•"/>
              <a:tabLst>
                <a:tab pos="0" algn="l"/>
              </a:tabLst>
            </a:pPr>
            <a:r>
              <a:rPr lang="en-US" sz="2400" b="0" strike="noStrike" spc="-1" dirty="0">
                <a:solidFill>
                  <a:srgbClr val="FFFFFF"/>
                </a:solidFill>
                <a:latin typeface="Times New Roman"/>
                <a:ea typeface="DejaVu Sans"/>
              </a:rPr>
              <a:t>Python</a:t>
            </a:r>
            <a:endParaRPr lang="en-US" sz="2400" b="0" strike="noStrike" spc="-1" dirty="0">
              <a:latin typeface="Arial"/>
            </a:endParaRPr>
          </a:p>
          <a:p>
            <a:pPr marL="228600" indent="-228240">
              <a:lnSpc>
                <a:spcPct val="120000"/>
              </a:lnSpc>
              <a:buClr>
                <a:srgbClr val="FFFFFF"/>
              </a:buClr>
              <a:buFont typeface="Arial"/>
              <a:buChar char="•"/>
              <a:tabLst>
                <a:tab pos="0" algn="l"/>
              </a:tabLst>
            </a:pPr>
            <a:r>
              <a:rPr lang="en-US" sz="2400" b="0" strike="noStrike" spc="-1" dirty="0">
                <a:solidFill>
                  <a:srgbClr val="FFFFFF"/>
                </a:solidFill>
                <a:latin typeface="Times New Roman"/>
                <a:ea typeface="DejaVu Sans"/>
              </a:rPr>
              <a:t>HTML</a:t>
            </a:r>
            <a:endParaRPr lang="en-US" sz="2400" b="0" strike="noStrike" spc="-1" dirty="0">
              <a:latin typeface="Arial"/>
            </a:endParaRPr>
          </a:p>
          <a:p>
            <a:pPr marL="228600" indent="-228240">
              <a:lnSpc>
                <a:spcPct val="120000"/>
              </a:lnSpc>
              <a:buClr>
                <a:srgbClr val="FFFFFF"/>
              </a:buClr>
              <a:buFont typeface="Arial"/>
              <a:buChar char="•"/>
              <a:tabLst>
                <a:tab pos="0" algn="l"/>
              </a:tabLst>
            </a:pPr>
            <a:r>
              <a:rPr lang="en-US" sz="2400" b="0" strike="noStrike" spc="-1" dirty="0">
                <a:solidFill>
                  <a:srgbClr val="FFFFFF"/>
                </a:solidFill>
                <a:latin typeface="Times New Roman"/>
                <a:ea typeface="DejaVu Sans"/>
              </a:rPr>
              <a:t>CSS</a:t>
            </a:r>
            <a:endParaRPr lang="en-US" sz="2400" b="0" strike="noStrike" spc="-1" dirty="0">
              <a:latin typeface="Arial"/>
            </a:endParaRPr>
          </a:p>
          <a:p>
            <a:pPr marL="228600" indent="-228240">
              <a:lnSpc>
                <a:spcPct val="120000"/>
              </a:lnSpc>
              <a:buClr>
                <a:srgbClr val="FFFFFF"/>
              </a:buClr>
              <a:buFont typeface="Arial"/>
              <a:buChar char="•"/>
              <a:tabLst>
                <a:tab pos="0" algn="l"/>
              </a:tabLst>
            </a:pPr>
            <a:r>
              <a:rPr lang="en-US" sz="2400" b="0" strike="noStrike" spc="-1" dirty="0">
                <a:solidFill>
                  <a:srgbClr val="FFFFFF"/>
                </a:solidFill>
                <a:latin typeface="Times New Roman"/>
                <a:ea typeface="DejaVu Sans"/>
              </a:rPr>
              <a:t>JavaScript</a:t>
            </a:r>
            <a:endParaRPr lang="en-US" sz="2400" b="0" strike="noStrike" spc="-1" dirty="0">
              <a:latin typeface="Arial"/>
            </a:endParaRPr>
          </a:p>
          <a:p>
            <a:pPr>
              <a:lnSpc>
                <a:spcPct val="120000"/>
              </a:lnSpc>
              <a:tabLst>
                <a:tab pos="0" algn="l"/>
              </a:tabLst>
            </a:pPr>
            <a:endParaRPr lang="en-US" sz="2400" b="0" strike="noStrike" spc="-1" dirty="0">
              <a:latin typeface="Arial"/>
            </a:endParaRPr>
          </a:p>
          <a:p>
            <a:pPr>
              <a:lnSpc>
                <a:spcPct val="120000"/>
              </a:lnSpc>
              <a:tabLst>
                <a:tab pos="0" algn="l"/>
              </a:tabLst>
            </a:pPr>
            <a:r>
              <a:rPr lang="en-US" sz="2400" b="1" strike="noStrike" spc="-1" dirty="0">
                <a:solidFill>
                  <a:srgbClr val="A6A6A6"/>
                </a:solidFill>
                <a:latin typeface="Times New Roman"/>
                <a:ea typeface="DejaVu Sans"/>
              </a:rPr>
              <a:t>Tools</a:t>
            </a:r>
            <a:r>
              <a:rPr lang="en-US" sz="2400" b="0" strike="noStrike" spc="-1" dirty="0">
                <a:solidFill>
                  <a:srgbClr val="A6A6A6"/>
                </a:solidFill>
                <a:latin typeface="Times New Roman"/>
                <a:ea typeface="DejaVu Sans"/>
              </a:rPr>
              <a:t> </a:t>
            </a:r>
            <a:endParaRPr lang="en-US" sz="2400" b="0" strike="noStrike" spc="-1" dirty="0">
              <a:latin typeface="Arial"/>
            </a:endParaRPr>
          </a:p>
          <a:p>
            <a:pPr marL="228600" indent="-228240">
              <a:lnSpc>
                <a:spcPct val="120000"/>
              </a:lnSpc>
              <a:buClr>
                <a:srgbClr val="FFFFFF"/>
              </a:buClr>
              <a:buFont typeface="Arial"/>
              <a:buChar char="•"/>
              <a:tabLst>
                <a:tab pos="0" algn="l"/>
              </a:tabLst>
            </a:pPr>
            <a:r>
              <a:rPr lang="en-US" sz="2400" b="0" strike="noStrike" spc="-1" dirty="0">
                <a:solidFill>
                  <a:srgbClr val="FFFFFF"/>
                </a:solidFill>
                <a:latin typeface="Times New Roman"/>
                <a:ea typeface="DejaVu Sans"/>
              </a:rPr>
              <a:t>Spacy</a:t>
            </a:r>
            <a:endParaRPr lang="en-US" sz="2400" b="0" strike="noStrike" spc="-1" dirty="0">
              <a:latin typeface="Arial"/>
            </a:endParaRPr>
          </a:p>
          <a:p>
            <a:pPr marL="228600" indent="-228240">
              <a:lnSpc>
                <a:spcPct val="120000"/>
              </a:lnSpc>
              <a:buClr>
                <a:srgbClr val="FFFFFF"/>
              </a:buClr>
              <a:buFont typeface="Arial"/>
              <a:buChar char="•"/>
              <a:tabLst>
                <a:tab pos="0" algn="l"/>
              </a:tabLst>
            </a:pPr>
            <a:r>
              <a:rPr lang="en-US" sz="2400" b="0" strike="noStrike" spc="-1" dirty="0">
                <a:solidFill>
                  <a:srgbClr val="FFFFFF"/>
                </a:solidFill>
                <a:latin typeface="Times New Roman"/>
                <a:ea typeface="DejaVu Sans"/>
              </a:rPr>
              <a:t>NLTK</a:t>
            </a:r>
            <a:endParaRPr lang="en-US" sz="2400" b="0" strike="noStrike" spc="-1" dirty="0">
              <a:latin typeface="Arial"/>
            </a:endParaRPr>
          </a:p>
          <a:p>
            <a:pPr marL="228600" indent="-228240">
              <a:lnSpc>
                <a:spcPct val="120000"/>
              </a:lnSpc>
              <a:buClr>
                <a:srgbClr val="FFFFFF"/>
              </a:buClr>
              <a:buFont typeface="Arial"/>
              <a:buChar char="•"/>
              <a:tabLst>
                <a:tab pos="0" algn="l"/>
              </a:tabLst>
            </a:pPr>
            <a:r>
              <a:rPr lang="en-US" sz="2400" b="0" strike="noStrike" spc="-1" dirty="0">
                <a:solidFill>
                  <a:srgbClr val="FFFFFF"/>
                </a:solidFill>
                <a:latin typeface="Times New Roman"/>
                <a:ea typeface="DejaVu Sans"/>
              </a:rPr>
              <a:t>TensorFlow</a:t>
            </a:r>
          </a:p>
          <a:p>
            <a:pPr marL="228600" indent="-228240">
              <a:lnSpc>
                <a:spcPct val="120000"/>
              </a:lnSpc>
              <a:buClr>
                <a:srgbClr val="FFFFFF"/>
              </a:buClr>
              <a:buFont typeface="Arial"/>
              <a:buChar char="•"/>
              <a:tabLst>
                <a:tab pos="0" algn="l"/>
              </a:tabLst>
            </a:pPr>
            <a:r>
              <a:rPr lang="en-US" sz="2400" spc="-1" dirty="0">
                <a:solidFill>
                  <a:srgbClr val="FFFFFF"/>
                </a:solidFill>
                <a:latin typeface="Times New Roman"/>
              </a:rPr>
              <a:t>Flask</a:t>
            </a:r>
          </a:p>
          <a:p>
            <a:pPr marL="228600" indent="-228240">
              <a:lnSpc>
                <a:spcPct val="120000"/>
              </a:lnSpc>
              <a:buClr>
                <a:srgbClr val="FFFFFF"/>
              </a:buClr>
              <a:buFont typeface="Arial"/>
              <a:buChar char="•"/>
              <a:tabLst>
                <a:tab pos="0" algn="l"/>
              </a:tabLst>
            </a:pPr>
            <a:r>
              <a:rPr lang="en-IN" sz="2400" dirty="0" err="1">
                <a:solidFill>
                  <a:srgbClr val="CCCCCC"/>
                </a:solidFill>
                <a:latin typeface="Consolas" panose="020B0609020204030204" pitchFamily="49" charset="0"/>
              </a:rPr>
              <a:t>O</a:t>
            </a:r>
            <a:r>
              <a:rPr lang="en-IN" sz="2400" b="0" dirty="0" err="1">
                <a:solidFill>
                  <a:srgbClr val="CCCCCC"/>
                </a:solidFill>
                <a:effectLst/>
                <a:latin typeface="Consolas" panose="020B0609020204030204" pitchFamily="49" charset="0"/>
              </a:rPr>
              <a:t>penie</a:t>
            </a:r>
            <a:endParaRPr lang="en-US" sz="2400" b="0" strike="noStrike" spc="-1" dirty="0">
              <a:latin typeface="Arial"/>
            </a:endParaRPr>
          </a:p>
          <a:p>
            <a:pPr>
              <a:lnSpc>
                <a:spcPct val="120000"/>
              </a:lnSpc>
              <a:spcBef>
                <a:spcPts val="1001"/>
              </a:spcBef>
              <a:tabLst>
                <a:tab pos="0" algn="l"/>
              </a:tabLst>
            </a:pPr>
            <a:endParaRPr lang="en-US" sz="2400" b="0" strike="noStrike" spc="-1" dirty="0">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 name="Title 3"/>
          <p:cNvSpPr/>
          <p:nvPr/>
        </p:nvSpPr>
        <p:spPr>
          <a:xfrm>
            <a:off x="1067400" y="82800"/>
            <a:ext cx="9905400" cy="138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en-US" sz="5400" b="1" strike="noStrike" cap="all" spc="-1">
                <a:solidFill>
                  <a:srgbClr val="E798B0"/>
                </a:solidFill>
                <a:latin typeface="Tw Cen MT"/>
                <a:ea typeface="DejaVu Sans"/>
              </a:rPr>
              <a:t>DATASET</a:t>
            </a:r>
            <a:endParaRPr lang="en-US" sz="5400" b="0" strike="noStrike" spc="-1">
              <a:latin typeface="Arial"/>
            </a:endParaRPr>
          </a:p>
        </p:txBody>
      </p:sp>
      <p:sp>
        <p:nvSpPr>
          <p:cNvPr id="318" name="TextBox 4"/>
          <p:cNvSpPr/>
          <p:nvPr/>
        </p:nvSpPr>
        <p:spPr>
          <a:xfrm>
            <a:off x="920520" y="1866600"/>
            <a:ext cx="10919880" cy="501530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l">
              <a:lnSpc>
                <a:spcPct val="150000"/>
              </a:lnSpc>
            </a:pPr>
            <a:r>
              <a:rPr lang="en-US" sz="2800" b="1" dirty="0">
                <a:solidFill>
                  <a:schemeClr val="bg1"/>
                </a:solidFill>
                <a:latin typeface="Times New Roman" panose="02020603050405020304" pitchFamily="18" charset="0"/>
                <a:cs typeface="Times New Roman" panose="02020603050405020304" pitchFamily="18" charset="0"/>
              </a:rPr>
              <a:t>NYT29 dataset</a:t>
            </a:r>
            <a:endParaRPr lang="en-US" sz="2000" dirty="0">
              <a:solidFill>
                <a:schemeClr val="bg1"/>
              </a:solidFill>
              <a:latin typeface="Times New Roman" panose="02020603050405020304" pitchFamily="18" charset="0"/>
              <a:cs typeface="Times New Roman" panose="02020603050405020304" pitchFamily="18" charset="0"/>
            </a:endParaRPr>
          </a:p>
          <a:p>
            <a:pPr algn="l">
              <a:lnSpc>
                <a:spcPct val="150000"/>
              </a:lnSpc>
            </a:pPr>
            <a:r>
              <a:rPr lang="en-US" sz="2000" dirty="0">
                <a:solidFill>
                  <a:schemeClr val="bg1"/>
                </a:solidFill>
                <a:latin typeface="Times New Roman" panose="02020603050405020304" pitchFamily="18" charset="0"/>
                <a:cs typeface="Times New Roman" panose="02020603050405020304" pitchFamily="18" charset="0"/>
              </a:rPr>
              <a:t>A widely used dataset for Named Entity Recognition tasks, is utilized. The dataset comprises of text documents sourced from the New York Times and is annotated with named entities, including persons, organizations, locations, </a:t>
            </a:r>
            <a:r>
              <a:rPr lang="en-US" sz="2000" dirty="0" err="1">
                <a:solidFill>
                  <a:schemeClr val="bg1"/>
                </a:solidFill>
                <a:latin typeface="Times New Roman" panose="02020603050405020304" pitchFamily="18" charset="0"/>
                <a:cs typeface="Times New Roman" panose="02020603050405020304" pitchFamily="18" charset="0"/>
              </a:rPr>
              <a:t>etc</a:t>
            </a:r>
            <a:r>
              <a:rPr lang="en-US" sz="2000" dirty="0">
                <a:solidFill>
                  <a:schemeClr val="bg1"/>
                </a:solidFill>
                <a:latin typeface="Times New Roman" panose="02020603050405020304" pitchFamily="18" charset="0"/>
                <a:cs typeface="Times New Roman" panose="02020603050405020304" pitchFamily="18" charset="0"/>
              </a:rPr>
              <a:t> along with their respective labels.</a:t>
            </a:r>
          </a:p>
          <a:p>
            <a:pPr algn="l">
              <a:lnSpc>
                <a:spcPct val="150000"/>
              </a:lnSpc>
            </a:pPr>
            <a:endParaRPr lang="en-US" sz="2000" dirty="0">
              <a:solidFill>
                <a:schemeClr val="bg1"/>
              </a:solidFill>
              <a:latin typeface="Times New Roman" panose="02020603050405020304" pitchFamily="18" charset="0"/>
              <a:cs typeface="Times New Roman" panose="02020603050405020304" pitchFamily="18" charset="0"/>
            </a:endParaRPr>
          </a:p>
          <a:p>
            <a:pPr algn="l">
              <a:lnSpc>
                <a:spcPct val="150000"/>
              </a:lnSpc>
            </a:pPr>
            <a:r>
              <a:rPr lang="en-US" sz="2000" dirty="0">
                <a:solidFill>
                  <a:schemeClr val="bg1"/>
                </a:solidFill>
                <a:latin typeface="Times New Roman" panose="02020603050405020304" pitchFamily="18" charset="0"/>
                <a:cs typeface="Times New Roman" panose="02020603050405020304" pitchFamily="18" charset="0"/>
              </a:rPr>
              <a:t>Link to dataset: </a:t>
            </a:r>
            <a:r>
              <a:rPr lang="en-US" sz="2000" dirty="0">
                <a:solidFill>
                  <a:srgbClr val="FFFFCC"/>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https://drive.google.com/drive/folders/1adxWb8rRnZPX1bJxFK0sAZ-sl8TK6u6H?usp=drive_link</a:t>
            </a:r>
            <a:endParaRPr lang="en-US" sz="2000" dirty="0">
              <a:solidFill>
                <a:srgbClr val="FFFFCC"/>
              </a:solidFill>
              <a:latin typeface="Times New Roman" panose="02020603050405020304" pitchFamily="18" charset="0"/>
              <a:cs typeface="Times New Roman" panose="02020603050405020304" pitchFamily="18" charset="0"/>
            </a:endParaRPr>
          </a:p>
          <a:p>
            <a:pPr algn="l">
              <a:lnSpc>
                <a:spcPct val="150000"/>
              </a:lnSpc>
            </a:pPr>
            <a:endParaRPr lang="en-US" sz="2000" dirty="0">
              <a:solidFill>
                <a:schemeClr val="bg1"/>
              </a:solidFill>
              <a:latin typeface="Times New Roman" panose="02020603050405020304" pitchFamily="18" charset="0"/>
              <a:cs typeface="Times New Roman" panose="02020603050405020304" pitchFamily="18" charset="0"/>
            </a:endParaRPr>
          </a:p>
          <a:p>
            <a:br>
              <a:rPr lang="en-US" sz="2400" b="0" i="0" dirty="0">
                <a:solidFill>
                  <a:srgbClr val="5D6879"/>
                </a:solidFill>
                <a:effectLst/>
                <a:latin typeface="Lato" panose="020F0502020204030203" pitchFamily="34" charset="0"/>
              </a:rPr>
            </a:br>
            <a:endParaRPr lang="en-US" sz="2200" b="0" strike="noStrike" spc="-1" dirty="0">
              <a:latin typeface="Arial"/>
            </a:endParaRPr>
          </a:p>
          <a:p>
            <a:pPr>
              <a:lnSpc>
                <a:spcPct val="100000"/>
              </a:lnSpc>
            </a:pPr>
            <a:endParaRPr lang="en-US" sz="2200" b="0" strike="noStrike" spc="-1" dirty="0">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 name="Title 1"/>
          <p:cNvSpPr/>
          <p:nvPr/>
        </p:nvSpPr>
        <p:spPr>
          <a:xfrm>
            <a:off x="257400" y="1516320"/>
            <a:ext cx="4598280" cy="1805400"/>
          </a:xfrm>
          <a:prstGeom prst="rect">
            <a:avLst/>
          </a:prstGeom>
          <a:noFill/>
          <a:ln w="0">
            <a:noFill/>
          </a:ln>
        </p:spPr>
        <p:style>
          <a:lnRef idx="0">
            <a:scrgbClr r="0" g="0" b="0"/>
          </a:lnRef>
          <a:fillRef idx="0">
            <a:scrgbClr r="0" g="0" b="0"/>
          </a:fillRef>
          <a:effectRef idx="0">
            <a:scrgbClr r="0" g="0" b="0"/>
          </a:effectRef>
          <a:fontRef idx="minor"/>
        </p:style>
      </p:sp>
      <p:sp>
        <p:nvSpPr>
          <p:cNvPr id="321" name="TextBox 320"/>
          <p:cNvSpPr txBox="1"/>
          <p:nvPr/>
        </p:nvSpPr>
        <p:spPr>
          <a:xfrm>
            <a:off x="2514600" y="228600"/>
            <a:ext cx="7315200" cy="771480"/>
          </a:xfrm>
          <a:prstGeom prst="rect">
            <a:avLst/>
          </a:prstGeom>
          <a:noFill/>
          <a:ln w="0">
            <a:noFill/>
          </a:ln>
        </p:spPr>
        <p:txBody>
          <a:bodyPr lIns="90000" tIns="45000" rIns="90000" bIns="45000" anchor="t">
            <a:noAutofit/>
          </a:bodyPr>
          <a:lstStyle/>
          <a:p>
            <a:r>
              <a:rPr lang="en-US" sz="4800" b="1" strike="noStrike" spc="-1">
                <a:solidFill>
                  <a:srgbClr val="EC9BA4"/>
                </a:solidFill>
                <a:latin typeface="Arial"/>
              </a:rPr>
              <a:t>WORK PLAN</a:t>
            </a:r>
          </a:p>
        </p:txBody>
      </p:sp>
      <p:pic>
        <p:nvPicPr>
          <p:cNvPr id="3" name="Picture 2">
            <a:extLst>
              <a:ext uri="{FF2B5EF4-FFF2-40B4-BE49-F238E27FC236}">
                <a16:creationId xmlns:a16="http://schemas.microsoft.com/office/drawing/2014/main" id="{CD33A954-9FC9-A9C2-7E48-CBCD35D21D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81090" y="1836944"/>
            <a:ext cx="9829820" cy="400203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 name="Title 1"/>
          <p:cNvSpPr/>
          <p:nvPr/>
        </p:nvSpPr>
        <p:spPr>
          <a:xfrm>
            <a:off x="927570" y="195942"/>
            <a:ext cx="9606691" cy="116632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pPr>
            <a:r>
              <a:rPr lang="en-IN" sz="5400" b="1" strike="noStrike" cap="all" spc="-1" dirty="0">
                <a:solidFill>
                  <a:srgbClr val="E798B0"/>
                </a:solidFill>
                <a:latin typeface="Times New Roman"/>
                <a:ea typeface="DejaVu Sans"/>
              </a:rPr>
              <a:t>MODULES</a:t>
            </a:r>
            <a:endParaRPr lang="en-US" sz="5400" b="0" strike="noStrike" spc="-1" dirty="0">
              <a:latin typeface="Arial"/>
            </a:endParaRPr>
          </a:p>
        </p:txBody>
      </p:sp>
      <p:sp>
        <p:nvSpPr>
          <p:cNvPr id="323" name="Content Placeholder 2"/>
          <p:cNvSpPr/>
          <p:nvPr/>
        </p:nvSpPr>
        <p:spPr>
          <a:xfrm>
            <a:off x="1359030" y="1399591"/>
            <a:ext cx="9905400" cy="473062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fontScale="62500" lnSpcReduction="20000"/>
          </a:bodyPr>
          <a:lstStyle/>
          <a:p>
            <a:pPr marL="457200" indent="-456840">
              <a:lnSpc>
                <a:spcPct val="170000"/>
              </a:lnSpc>
              <a:buClr>
                <a:srgbClr val="FFFFFF"/>
              </a:buClr>
              <a:buSzPct val="125000"/>
              <a:buFont typeface="Arial"/>
              <a:buAutoNum type="arabicPeriod"/>
            </a:pPr>
            <a:r>
              <a:rPr lang="en-US" sz="4000" b="0" strike="noStrike" spc="-1" dirty="0">
                <a:solidFill>
                  <a:srgbClr val="FFFFFF"/>
                </a:solidFill>
                <a:latin typeface="Times New Roman" panose="02020603050405020304" pitchFamily="18" charset="0"/>
                <a:ea typeface="DejaVu Sans"/>
                <a:cs typeface="Times New Roman" panose="02020603050405020304" pitchFamily="18" charset="0"/>
              </a:rPr>
              <a:t>Dataset preparation and preprocessing</a:t>
            </a:r>
            <a:endParaRPr lang="en-US" sz="4000" spc="-1" dirty="0">
              <a:solidFill>
                <a:srgbClr val="FFFFFF"/>
              </a:solidFill>
              <a:latin typeface="Times New Roman" panose="02020603050405020304" pitchFamily="18" charset="0"/>
              <a:ea typeface="DejaVu Sans"/>
              <a:cs typeface="Times New Roman" panose="02020603050405020304" pitchFamily="18" charset="0"/>
            </a:endParaRPr>
          </a:p>
          <a:p>
            <a:pPr marL="457200" indent="-456840">
              <a:lnSpc>
                <a:spcPct val="170000"/>
              </a:lnSpc>
              <a:buClr>
                <a:srgbClr val="FFFFFF"/>
              </a:buClr>
              <a:buSzPct val="125000"/>
              <a:buFont typeface="Arial"/>
              <a:buAutoNum type="arabicPeriod"/>
            </a:pPr>
            <a:r>
              <a:rPr lang="en-US" sz="4000" b="0" strike="noStrike" spc="-1" dirty="0">
                <a:solidFill>
                  <a:srgbClr val="FFFFFF"/>
                </a:solidFill>
                <a:latin typeface="Times New Roman" panose="02020603050405020304" pitchFamily="18" charset="0"/>
                <a:cs typeface="Times New Roman" panose="02020603050405020304" pitchFamily="18" charset="0"/>
              </a:rPr>
              <a:t>Tokenization</a:t>
            </a:r>
          </a:p>
          <a:p>
            <a:pPr marL="457200" indent="-456840">
              <a:lnSpc>
                <a:spcPct val="170000"/>
              </a:lnSpc>
              <a:buClr>
                <a:srgbClr val="FFFFFF"/>
              </a:buClr>
              <a:buSzPct val="125000"/>
              <a:buFont typeface="Arial"/>
              <a:buAutoNum type="arabicPeriod"/>
            </a:pPr>
            <a:r>
              <a:rPr lang="en-US" sz="4000" b="0" strike="noStrike" spc="-1" dirty="0">
                <a:solidFill>
                  <a:srgbClr val="FFFFFF"/>
                </a:solidFill>
                <a:latin typeface="Times New Roman" panose="02020603050405020304" pitchFamily="18" charset="0"/>
                <a:cs typeface="Times New Roman" panose="02020603050405020304" pitchFamily="18" charset="0"/>
              </a:rPr>
              <a:t>Pos Tagging</a:t>
            </a:r>
          </a:p>
          <a:p>
            <a:pPr marL="457200" indent="-456840">
              <a:lnSpc>
                <a:spcPct val="170000"/>
              </a:lnSpc>
              <a:buClr>
                <a:srgbClr val="FFFFFF"/>
              </a:buClr>
              <a:buSzPct val="125000"/>
              <a:buFont typeface="Arial"/>
              <a:buAutoNum type="arabicPeriod"/>
            </a:pPr>
            <a:r>
              <a:rPr lang="en-US" sz="4000" b="0" strike="noStrike" spc="-1" dirty="0">
                <a:solidFill>
                  <a:srgbClr val="FFFFFF"/>
                </a:solidFill>
                <a:latin typeface="Times New Roman" panose="02020603050405020304" pitchFamily="18" charset="0"/>
                <a:cs typeface="Times New Roman" panose="02020603050405020304" pitchFamily="18" charset="0"/>
              </a:rPr>
              <a:t>NER(Named entity recognition)</a:t>
            </a:r>
          </a:p>
          <a:p>
            <a:pPr marL="457200" indent="-456840">
              <a:lnSpc>
                <a:spcPct val="170000"/>
              </a:lnSpc>
              <a:buClr>
                <a:srgbClr val="FFFFFF"/>
              </a:buClr>
              <a:buSzPct val="125000"/>
              <a:buFont typeface="Arial"/>
              <a:buAutoNum type="arabicPeriod"/>
            </a:pPr>
            <a:r>
              <a:rPr lang="en-US" sz="4000" spc="-1" dirty="0">
                <a:solidFill>
                  <a:srgbClr val="FFFFFF"/>
                </a:solidFill>
                <a:latin typeface="Times New Roman" panose="02020603050405020304" pitchFamily="18" charset="0"/>
                <a:cs typeface="Times New Roman" panose="02020603050405020304" pitchFamily="18" charset="0"/>
              </a:rPr>
              <a:t>GP GNN algorithm </a:t>
            </a:r>
            <a:endParaRPr lang="en-US" sz="4000" b="0" strike="noStrike" spc="-1" dirty="0">
              <a:solidFill>
                <a:srgbClr val="FFFFFF"/>
              </a:solidFill>
              <a:latin typeface="Times New Roman" panose="02020603050405020304" pitchFamily="18" charset="0"/>
              <a:cs typeface="Times New Roman" panose="02020603050405020304" pitchFamily="18" charset="0"/>
            </a:endParaRPr>
          </a:p>
          <a:p>
            <a:pPr marL="457200" indent="-456840">
              <a:lnSpc>
                <a:spcPct val="170000"/>
              </a:lnSpc>
              <a:buClr>
                <a:srgbClr val="FFFFFF"/>
              </a:buClr>
              <a:buSzPct val="125000"/>
              <a:buFont typeface="Arial"/>
              <a:buAutoNum type="arabicPeriod"/>
            </a:pPr>
            <a:r>
              <a:rPr lang="en-US" sz="4000" b="0" strike="noStrike" spc="-1" dirty="0">
                <a:solidFill>
                  <a:srgbClr val="FFFFFF"/>
                </a:solidFill>
                <a:latin typeface="Times New Roman" panose="02020603050405020304" pitchFamily="18" charset="0"/>
                <a:ea typeface="DejaVu Sans"/>
                <a:cs typeface="Times New Roman" panose="02020603050405020304" pitchFamily="18" charset="0"/>
              </a:rPr>
              <a:t>Entity classification: Divides the detected entities into preset categories</a:t>
            </a:r>
            <a:endParaRPr lang="en-US" sz="4000" b="0" strike="noStrike" spc="-1" dirty="0">
              <a:latin typeface="Times New Roman" panose="02020603050405020304" pitchFamily="18" charset="0"/>
              <a:cs typeface="Times New Roman" panose="02020603050405020304" pitchFamily="18" charset="0"/>
            </a:endParaRPr>
          </a:p>
          <a:p>
            <a:pPr marL="457200" indent="-456840">
              <a:lnSpc>
                <a:spcPct val="170000"/>
              </a:lnSpc>
              <a:buClr>
                <a:srgbClr val="FFFFFF"/>
              </a:buClr>
              <a:buSzPct val="125000"/>
              <a:buFont typeface="Arial"/>
              <a:buAutoNum type="arabicPeriod"/>
            </a:pPr>
            <a:r>
              <a:rPr lang="en-US" sz="4000" b="0" strike="noStrike" spc="-1" dirty="0">
                <a:solidFill>
                  <a:srgbClr val="FFFFFF"/>
                </a:solidFill>
                <a:latin typeface="Times New Roman" panose="02020603050405020304" pitchFamily="18" charset="0"/>
                <a:ea typeface="DejaVu Sans"/>
                <a:cs typeface="Times New Roman" panose="02020603050405020304" pitchFamily="18" charset="0"/>
              </a:rPr>
              <a:t> Relationship prediction: Find pairing relationship between entities.</a:t>
            </a:r>
          </a:p>
          <a:p>
            <a:pPr marL="360">
              <a:lnSpc>
                <a:spcPct val="150000"/>
              </a:lnSpc>
              <a:buClr>
                <a:srgbClr val="FFFFFF"/>
              </a:buClr>
              <a:buSzPct val="125000"/>
            </a:pPr>
            <a:endParaRPr lang="en-US" sz="2400" b="0" strike="noStrike" spc="-1" dirty="0">
              <a:latin typeface="Arial"/>
            </a:endParaRPr>
          </a:p>
          <a:p>
            <a:pPr>
              <a:lnSpc>
                <a:spcPct val="120000"/>
              </a:lnSpc>
              <a:spcBef>
                <a:spcPts val="1001"/>
              </a:spcBef>
              <a:tabLst>
                <a:tab pos="0" algn="l"/>
              </a:tabLst>
            </a:pPr>
            <a:endParaRPr lang="en-US" sz="2400" b="0" strike="noStrike" spc="-1" dirty="0">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3385C-E848-5BCB-1E44-315B1F774CF9}"/>
              </a:ext>
            </a:extLst>
          </p:cNvPr>
          <p:cNvSpPr>
            <a:spLocks noGrp="1"/>
          </p:cNvSpPr>
          <p:nvPr>
            <p:ph type="title"/>
          </p:nvPr>
        </p:nvSpPr>
        <p:spPr>
          <a:xfrm>
            <a:off x="609779" y="422890"/>
            <a:ext cx="10972440" cy="1144800"/>
          </a:xfrm>
        </p:spPr>
        <p:txBody>
          <a:bodyPr/>
          <a:lstStyle/>
          <a:p>
            <a:pPr algn="ctr"/>
            <a:br>
              <a:rPr lang="en-US" sz="3600" b="1" dirty="0">
                <a:solidFill>
                  <a:schemeClr val="bg1"/>
                </a:solidFill>
                <a:latin typeface="Times New Roman" panose="02020603050405020304" pitchFamily="18" charset="0"/>
                <a:cs typeface="Times New Roman" panose="02020603050405020304" pitchFamily="18" charset="0"/>
              </a:rPr>
            </a:br>
            <a:r>
              <a:rPr lang="en-IN" sz="3600" b="1" strike="noStrike" cap="all" spc="-1" dirty="0">
                <a:solidFill>
                  <a:srgbClr val="E798B0"/>
                </a:solidFill>
                <a:latin typeface="Tw Cen MT"/>
                <a:ea typeface="DejaVu Sans"/>
              </a:rPr>
              <a:t>GP GNN(</a:t>
            </a:r>
            <a:r>
              <a:rPr lang="en-IN" sz="3600" b="1" strike="noStrike" spc="-1" dirty="0">
                <a:solidFill>
                  <a:srgbClr val="E798B0"/>
                </a:solidFill>
                <a:latin typeface="Tw Cen MT"/>
                <a:ea typeface="DejaVu Sans"/>
              </a:rPr>
              <a:t>graph neural networks with generated parameters) algorithm</a:t>
            </a:r>
            <a:br>
              <a:rPr lang="en-US" sz="3600" b="0" strike="noStrike" spc="-1" dirty="0">
                <a:latin typeface="Arial"/>
              </a:rPr>
            </a:br>
            <a:endParaRPr lang="en-IN" sz="3600" b="1" dirty="0">
              <a:solidFill>
                <a:schemeClr val="bg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9268B71-64F4-D507-098E-1145FB860BF2}"/>
              </a:ext>
            </a:extLst>
          </p:cNvPr>
          <p:cNvSpPr txBox="1"/>
          <p:nvPr/>
        </p:nvSpPr>
        <p:spPr>
          <a:xfrm>
            <a:off x="877078" y="2087302"/>
            <a:ext cx="10280779" cy="3816429"/>
          </a:xfrm>
          <a:prstGeom prst="rect">
            <a:avLst/>
          </a:prstGeom>
          <a:noFill/>
        </p:spPr>
        <p:txBody>
          <a:bodyPr wrap="square" rtlCol="0">
            <a:spAutoFit/>
          </a:bodyPr>
          <a:lstStyle/>
          <a:p>
            <a:pPr marL="342900" indent="-342900">
              <a:lnSpc>
                <a:spcPct val="100000"/>
              </a:lnSpc>
              <a:buFont typeface="Arial" panose="020B0604020202020204" pitchFamily="34" charset="0"/>
              <a:buChar char="•"/>
            </a:pPr>
            <a:r>
              <a:rPr lang="en-US" sz="2200" dirty="0">
                <a:solidFill>
                  <a:schemeClr val="bg1"/>
                </a:solidFill>
                <a:latin typeface="Times New Roman" panose="02020603050405020304" pitchFamily="18" charset="0"/>
                <a:cs typeface="Times New Roman" panose="02020603050405020304" pitchFamily="18" charset="0"/>
              </a:rPr>
              <a:t>Graph neural networks with generated parameters (GP-GNNs) adapt graph neural networks to solve the natural language relational reasoning task. GP-GNNs first constructs a fully connected graph with the entities in the sequence of text. After that, it employs three modules to process relational reasoning: (1) an encoding module (2) a propagation module (3) a classification module. As compared to traditional GNNs, GP-GNNs could learn edge parameters from natural languages, extending it from performing inference on only non-relational graphs or graphs with a limited number of edge types to unstructured inputs such as texts.</a:t>
            </a:r>
          </a:p>
          <a:p>
            <a:pPr marL="342900" indent="-342900">
              <a:lnSpc>
                <a:spcPct val="100000"/>
              </a:lnSpc>
              <a:buFont typeface="Arial" panose="020B0604020202020204" pitchFamily="34" charset="0"/>
              <a:buChar char="•"/>
            </a:pPr>
            <a:endParaRPr lang="en-US" sz="2200" dirty="0">
              <a:solidFill>
                <a:schemeClr val="bg1"/>
              </a:solidFill>
              <a:latin typeface="Times New Roman" panose="02020603050405020304" pitchFamily="18" charset="0"/>
              <a:cs typeface="Times New Roman" panose="02020603050405020304" pitchFamily="18" charset="0"/>
            </a:endParaRPr>
          </a:p>
          <a:p>
            <a:pPr marL="342900" indent="-342900">
              <a:lnSpc>
                <a:spcPct val="100000"/>
              </a:lnSpc>
              <a:buFont typeface="Arial" panose="020B0604020202020204" pitchFamily="34" charset="0"/>
              <a:buChar char="•"/>
            </a:pPr>
            <a:r>
              <a:rPr lang="en-US" sz="2200" b="0" i="0" dirty="0">
                <a:solidFill>
                  <a:srgbClr val="FFFFFF"/>
                </a:solidFill>
                <a:effectLst/>
                <a:latin typeface="Times New Roman" panose="02020603050405020304" pitchFamily="18" charset="0"/>
                <a:cs typeface="Times New Roman" panose="02020603050405020304" pitchFamily="18" charset="0"/>
              </a:rPr>
              <a:t>A graph neural network with generated parameters (GPGNNs) is one of the most effective approaches for multi-hop relational reasoning in relation extraction.</a:t>
            </a:r>
            <a:endParaRPr lang="en-IN" sz="22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48161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4327C-471E-7207-6B94-AD50194B2671}"/>
              </a:ext>
            </a:extLst>
          </p:cNvPr>
          <p:cNvSpPr>
            <a:spLocks noGrp="1"/>
          </p:cNvSpPr>
          <p:nvPr>
            <p:ph type="title"/>
          </p:nvPr>
        </p:nvSpPr>
        <p:spPr>
          <a:xfrm>
            <a:off x="609480" y="273600"/>
            <a:ext cx="10279713" cy="788541"/>
          </a:xfrm>
        </p:spPr>
        <p:txBody>
          <a:bodyPr/>
          <a:lstStyle/>
          <a:p>
            <a:r>
              <a:rPr lang="en-US" dirty="0">
                <a:solidFill>
                  <a:schemeClr val="bg1"/>
                </a:solidFill>
              </a:rPr>
              <a:t>Removing Stop Words</a:t>
            </a:r>
          </a:p>
        </p:txBody>
      </p:sp>
      <p:pic>
        <p:nvPicPr>
          <p:cNvPr id="4" name="Picture 4" descr="Text&#10;&#10;Description automatically generated">
            <a:extLst>
              <a:ext uri="{FF2B5EF4-FFF2-40B4-BE49-F238E27FC236}">
                <a16:creationId xmlns:a16="http://schemas.microsoft.com/office/drawing/2014/main" id="{901533AC-1031-5D54-55DE-00C524D496A6}"/>
              </a:ext>
            </a:extLst>
          </p:cNvPr>
          <p:cNvPicPr>
            <a:picLocks noChangeAspect="1"/>
          </p:cNvPicPr>
          <p:nvPr/>
        </p:nvPicPr>
        <p:blipFill rotWithShape="1">
          <a:blip r:embed="rId2"/>
          <a:srcRect l="5821" t="23585" r="29866" b="8868"/>
          <a:stretch/>
        </p:blipFill>
        <p:spPr>
          <a:xfrm>
            <a:off x="1161803" y="1163164"/>
            <a:ext cx="10006236" cy="5264228"/>
          </a:xfrm>
          <a:prstGeom prst="rect">
            <a:avLst/>
          </a:prstGeom>
        </p:spPr>
      </p:pic>
    </p:spTree>
    <p:extLst>
      <p:ext uri="{BB962C8B-B14F-4D97-AF65-F5344CB8AC3E}">
        <p14:creationId xmlns:p14="http://schemas.microsoft.com/office/powerpoint/2010/main" val="32523865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B510C-3038-0A42-A52A-41853CF3AF15}"/>
              </a:ext>
            </a:extLst>
          </p:cNvPr>
          <p:cNvSpPr>
            <a:spLocks noGrp="1"/>
          </p:cNvSpPr>
          <p:nvPr>
            <p:ph type="title"/>
          </p:nvPr>
        </p:nvSpPr>
        <p:spPr>
          <a:xfrm>
            <a:off x="1219560" y="373224"/>
            <a:ext cx="10972440" cy="727787"/>
          </a:xfrm>
        </p:spPr>
        <p:txBody>
          <a:bodyPr/>
          <a:lstStyle/>
          <a:p>
            <a:r>
              <a:rPr lang="en-US" dirty="0">
                <a:solidFill>
                  <a:schemeClr val="bg1"/>
                </a:solidFill>
              </a:rPr>
              <a:t>Tokenization and Keyword generation</a:t>
            </a:r>
            <a:br>
              <a:rPr lang="en-US" b="0" dirty="0">
                <a:solidFill>
                  <a:schemeClr val="bg1"/>
                </a:solidFill>
                <a:effectLst/>
                <a:latin typeface="Courier New" panose="02070309020205020404" pitchFamily="49" charset="0"/>
              </a:rPr>
            </a:br>
            <a:endParaRPr lang="en-IN" dirty="0">
              <a:solidFill>
                <a:schemeClr val="bg1"/>
              </a:solidFill>
            </a:endParaRPr>
          </a:p>
        </p:txBody>
      </p:sp>
      <p:pic>
        <p:nvPicPr>
          <p:cNvPr id="3" name="Picture 3" descr="Graphical user interface, text, application&#10;&#10;Description automatically generated">
            <a:extLst>
              <a:ext uri="{FF2B5EF4-FFF2-40B4-BE49-F238E27FC236}">
                <a16:creationId xmlns:a16="http://schemas.microsoft.com/office/drawing/2014/main" id="{35635631-2252-0657-E9D7-C1BC5A3C6F92}"/>
              </a:ext>
            </a:extLst>
          </p:cNvPr>
          <p:cNvPicPr>
            <a:picLocks noChangeAspect="1"/>
          </p:cNvPicPr>
          <p:nvPr/>
        </p:nvPicPr>
        <p:blipFill rotWithShape="1">
          <a:blip r:embed="rId2"/>
          <a:srcRect l="4750" t="22658" r="52132" b="8715"/>
          <a:stretch/>
        </p:blipFill>
        <p:spPr>
          <a:xfrm>
            <a:off x="2388920" y="1024619"/>
            <a:ext cx="7888052" cy="4987133"/>
          </a:xfrm>
          <a:prstGeom prst="rect">
            <a:avLst/>
          </a:prstGeom>
        </p:spPr>
      </p:pic>
    </p:spTree>
    <p:extLst>
      <p:ext uri="{BB962C8B-B14F-4D97-AF65-F5344CB8AC3E}">
        <p14:creationId xmlns:p14="http://schemas.microsoft.com/office/powerpoint/2010/main" val="41563045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Graphical user interface, text, application&#10;&#10;Description automatically generated">
            <a:extLst>
              <a:ext uri="{FF2B5EF4-FFF2-40B4-BE49-F238E27FC236}">
                <a16:creationId xmlns:a16="http://schemas.microsoft.com/office/drawing/2014/main" id="{41B65C16-66E9-B52F-2520-B2F770F6141D}"/>
              </a:ext>
            </a:extLst>
          </p:cNvPr>
          <p:cNvPicPr>
            <a:picLocks noChangeAspect="1"/>
          </p:cNvPicPr>
          <p:nvPr/>
        </p:nvPicPr>
        <p:blipFill rotWithShape="1">
          <a:blip r:embed="rId2"/>
          <a:srcRect l="4300" t="24490" r="-871" b="7029"/>
          <a:stretch/>
        </p:blipFill>
        <p:spPr>
          <a:xfrm>
            <a:off x="1623753" y="866281"/>
            <a:ext cx="9544923" cy="5125680"/>
          </a:xfrm>
          <a:prstGeom prst="rect">
            <a:avLst/>
          </a:prstGeom>
        </p:spPr>
      </p:pic>
    </p:spTree>
    <p:extLst>
      <p:ext uri="{BB962C8B-B14F-4D97-AF65-F5344CB8AC3E}">
        <p14:creationId xmlns:p14="http://schemas.microsoft.com/office/powerpoint/2010/main" val="40669366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Graphical user interface, text, application&#10;&#10;Description automatically generated">
            <a:extLst>
              <a:ext uri="{FF2B5EF4-FFF2-40B4-BE49-F238E27FC236}">
                <a16:creationId xmlns:a16="http://schemas.microsoft.com/office/drawing/2014/main" id="{6483F208-5B8F-3D2B-A4B3-FC6777729E31}"/>
              </a:ext>
            </a:extLst>
          </p:cNvPr>
          <p:cNvPicPr>
            <a:picLocks noChangeAspect="1"/>
          </p:cNvPicPr>
          <p:nvPr/>
        </p:nvPicPr>
        <p:blipFill rotWithShape="1">
          <a:blip r:embed="rId2"/>
          <a:srcRect l="5845" t="24373" r="-522" b="8064"/>
          <a:stretch/>
        </p:blipFill>
        <p:spPr>
          <a:xfrm>
            <a:off x="855024" y="737632"/>
            <a:ext cx="10561023" cy="548194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4B44F9C-D20D-794D-3209-9D3A2FF83E7B}"/>
              </a:ext>
            </a:extLst>
          </p:cNvPr>
          <p:cNvSpPr txBox="1"/>
          <p:nvPr/>
        </p:nvSpPr>
        <p:spPr>
          <a:xfrm>
            <a:off x="3442995" y="344661"/>
            <a:ext cx="5150498" cy="830997"/>
          </a:xfrm>
          <a:prstGeom prst="rect">
            <a:avLst/>
          </a:prstGeom>
          <a:noFill/>
        </p:spPr>
        <p:txBody>
          <a:bodyPr wrap="square" rtlCol="0">
            <a:spAutoFit/>
          </a:bodyPr>
          <a:lstStyle/>
          <a:p>
            <a:pPr algn="ctr"/>
            <a:r>
              <a:rPr lang="en-US" sz="2400" b="1" dirty="0">
                <a:solidFill>
                  <a:srgbClr val="D4D4D4"/>
                </a:solidFill>
                <a:effectLst/>
                <a:latin typeface="Times New Roman" panose="02020603050405020304" pitchFamily="18" charset="0"/>
                <a:cs typeface="Times New Roman" panose="02020603050405020304" pitchFamily="18" charset="0"/>
              </a:rPr>
              <a:t>Removing Punctuations from the text</a:t>
            </a:r>
          </a:p>
          <a:p>
            <a:pPr algn="ctr"/>
            <a:endParaRPr lang="en-IN" sz="2400" b="1" dirty="0">
              <a:solidFill>
                <a:schemeClr val="bg1"/>
              </a:solidFill>
            </a:endParaRPr>
          </a:p>
        </p:txBody>
      </p:sp>
      <p:pic>
        <p:nvPicPr>
          <p:cNvPr id="2" name="Picture 2" descr="Graphical user interface, text, application, email&#10;&#10;Description automatically generated">
            <a:extLst>
              <a:ext uri="{FF2B5EF4-FFF2-40B4-BE49-F238E27FC236}">
                <a16:creationId xmlns:a16="http://schemas.microsoft.com/office/drawing/2014/main" id="{1F3182F8-9810-76C4-F9AD-16733F821420}"/>
              </a:ext>
            </a:extLst>
          </p:cNvPr>
          <p:cNvPicPr>
            <a:picLocks noChangeAspect="1"/>
          </p:cNvPicPr>
          <p:nvPr/>
        </p:nvPicPr>
        <p:blipFill rotWithShape="1">
          <a:blip r:embed="rId2"/>
          <a:srcRect l="5062" t="37076" r="562" b="6356"/>
          <a:stretch/>
        </p:blipFill>
        <p:spPr>
          <a:xfrm>
            <a:off x="1755570" y="1252228"/>
            <a:ext cx="9343797" cy="4828882"/>
          </a:xfrm>
          <a:prstGeom prst="rect">
            <a:avLst/>
          </a:prstGeom>
        </p:spPr>
      </p:pic>
    </p:spTree>
    <p:extLst>
      <p:ext uri="{BB962C8B-B14F-4D97-AF65-F5344CB8AC3E}">
        <p14:creationId xmlns:p14="http://schemas.microsoft.com/office/powerpoint/2010/main" val="26903753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Graphical user interface, text, application&#10;&#10;Description automatically generated">
            <a:extLst>
              <a:ext uri="{FF2B5EF4-FFF2-40B4-BE49-F238E27FC236}">
                <a16:creationId xmlns:a16="http://schemas.microsoft.com/office/drawing/2014/main" id="{90B64AD5-7D61-91F3-244D-2376D40E0747}"/>
              </a:ext>
            </a:extLst>
          </p:cNvPr>
          <p:cNvPicPr>
            <a:picLocks noChangeAspect="1"/>
          </p:cNvPicPr>
          <p:nvPr/>
        </p:nvPicPr>
        <p:blipFill rotWithShape="1">
          <a:blip r:embed="rId2"/>
          <a:srcRect l="2992" t="32473" r="61845" b="21935"/>
          <a:stretch/>
        </p:blipFill>
        <p:spPr>
          <a:xfrm>
            <a:off x="1577440" y="1281918"/>
            <a:ext cx="9035846" cy="3631537"/>
          </a:xfrm>
          <a:prstGeom prst="rect">
            <a:avLst/>
          </a:prstGeom>
        </p:spPr>
      </p:pic>
    </p:spTree>
    <p:extLst>
      <p:ext uri="{BB962C8B-B14F-4D97-AF65-F5344CB8AC3E}">
        <p14:creationId xmlns:p14="http://schemas.microsoft.com/office/powerpoint/2010/main" val="32146219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BB877FB-08F6-1704-3EBF-2B5BE4DFA961}"/>
              </a:ext>
            </a:extLst>
          </p:cNvPr>
          <p:cNvSpPr txBox="1"/>
          <p:nvPr/>
        </p:nvSpPr>
        <p:spPr>
          <a:xfrm>
            <a:off x="951722" y="131029"/>
            <a:ext cx="6606073" cy="461665"/>
          </a:xfrm>
          <a:prstGeom prst="rect">
            <a:avLst/>
          </a:prstGeom>
          <a:noFill/>
        </p:spPr>
        <p:txBody>
          <a:bodyPr wrap="square" rtlCol="0">
            <a:spAutoFit/>
          </a:bodyPr>
          <a:lstStyle/>
          <a:p>
            <a:r>
              <a:rPr lang="en-US" sz="2400" b="0" dirty="0">
                <a:solidFill>
                  <a:srgbClr val="D4D4D4"/>
                </a:solidFill>
                <a:effectLst/>
                <a:latin typeface="Times New Roman" panose="02020603050405020304" pitchFamily="18" charset="0"/>
                <a:cs typeface="Times New Roman" panose="02020603050405020304" pitchFamily="18" charset="0"/>
              </a:rPr>
              <a:t>Handling the Unknown post tag words</a:t>
            </a:r>
          </a:p>
        </p:txBody>
      </p:sp>
      <p:pic>
        <p:nvPicPr>
          <p:cNvPr id="3" name="Picture 2">
            <a:extLst>
              <a:ext uri="{FF2B5EF4-FFF2-40B4-BE49-F238E27FC236}">
                <a16:creationId xmlns:a16="http://schemas.microsoft.com/office/drawing/2014/main" id="{FFACC463-FE5C-2346-0D23-1C10B900AC59}"/>
              </a:ext>
            </a:extLst>
          </p:cNvPr>
          <p:cNvPicPr>
            <a:picLocks noChangeAspect="1"/>
          </p:cNvPicPr>
          <p:nvPr/>
        </p:nvPicPr>
        <p:blipFill rotWithShape="1">
          <a:blip r:embed="rId2"/>
          <a:srcRect t="-1" b="671"/>
          <a:stretch/>
        </p:blipFill>
        <p:spPr>
          <a:xfrm>
            <a:off x="951721" y="768438"/>
            <a:ext cx="8845421" cy="5958533"/>
          </a:xfrm>
          <a:prstGeom prst="rect">
            <a:avLst/>
          </a:prstGeom>
        </p:spPr>
      </p:pic>
    </p:spTree>
    <p:extLst>
      <p:ext uri="{BB962C8B-B14F-4D97-AF65-F5344CB8AC3E}">
        <p14:creationId xmlns:p14="http://schemas.microsoft.com/office/powerpoint/2010/main" val="26596196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D90F260-481C-F35C-0FC8-7D95D29DE724}"/>
              </a:ext>
            </a:extLst>
          </p:cNvPr>
          <p:cNvPicPr>
            <a:picLocks noChangeAspect="1"/>
          </p:cNvPicPr>
          <p:nvPr/>
        </p:nvPicPr>
        <p:blipFill>
          <a:blip r:embed="rId2"/>
          <a:stretch>
            <a:fillRect/>
          </a:stretch>
        </p:blipFill>
        <p:spPr>
          <a:xfrm>
            <a:off x="214604" y="531845"/>
            <a:ext cx="11614021" cy="5421086"/>
          </a:xfrm>
          <a:prstGeom prst="rect">
            <a:avLst/>
          </a:prstGeom>
        </p:spPr>
      </p:pic>
    </p:spTree>
    <p:extLst>
      <p:ext uri="{BB962C8B-B14F-4D97-AF65-F5344CB8AC3E}">
        <p14:creationId xmlns:p14="http://schemas.microsoft.com/office/powerpoint/2010/main" val="17284465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D1A1F-80EC-B028-7654-6D8451650A1A}"/>
              </a:ext>
            </a:extLst>
          </p:cNvPr>
          <p:cNvSpPr>
            <a:spLocks noGrp="1"/>
          </p:cNvSpPr>
          <p:nvPr>
            <p:ph type="title"/>
          </p:nvPr>
        </p:nvSpPr>
        <p:spPr/>
        <p:txBody>
          <a:bodyPr/>
          <a:lstStyle/>
          <a:p>
            <a:r>
              <a:rPr lang="en-US" dirty="0">
                <a:solidFill>
                  <a:schemeClr val="bg1"/>
                </a:solidFill>
              </a:rPr>
              <a:t>BIO Tagging</a:t>
            </a:r>
          </a:p>
          <a:p>
            <a:endParaRPr lang="en-US" dirty="0"/>
          </a:p>
        </p:txBody>
      </p:sp>
      <p:pic>
        <p:nvPicPr>
          <p:cNvPr id="4" name="Picture 4" descr="Graphical user interface, text, application&#10;&#10;Description automatically generated">
            <a:extLst>
              <a:ext uri="{FF2B5EF4-FFF2-40B4-BE49-F238E27FC236}">
                <a16:creationId xmlns:a16="http://schemas.microsoft.com/office/drawing/2014/main" id="{DB4CD407-F27D-D097-1559-8113BB11F7E2}"/>
              </a:ext>
            </a:extLst>
          </p:cNvPr>
          <p:cNvPicPr>
            <a:picLocks noChangeAspect="1"/>
          </p:cNvPicPr>
          <p:nvPr/>
        </p:nvPicPr>
        <p:blipFill rotWithShape="1">
          <a:blip r:embed="rId2"/>
          <a:srcRect l="5912" t="26261" r="39857" b="10714"/>
          <a:stretch/>
        </p:blipFill>
        <p:spPr>
          <a:xfrm>
            <a:off x="701488" y="1223122"/>
            <a:ext cx="11059004" cy="5271710"/>
          </a:xfrm>
          <a:prstGeom prst="rect">
            <a:avLst/>
          </a:prstGeom>
        </p:spPr>
      </p:pic>
    </p:spTree>
    <p:extLst>
      <p:ext uri="{BB962C8B-B14F-4D97-AF65-F5344CB8AC3E}">
        <p14:creationId xmlns:p14="http://schemas.microsoft.com/office/powerpoint/2010/main" val="23123181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a:extLst>
              <a:ext uri="{FF2B5EF4-FFF2-40B4-BE49-F238E27FC236}">
                <a16:creationId xmlns:a16="http://schemas.microsoft.com/office/drawing/2014/main" id="{1E5DAEE4-5107-08DE-0DAB-BA84EA1D7639}"/>
              </a:ext>
            </a:extLst>
          </p:cNvPr>
          <p:cNvPicPr>
            <a:picLocks noChangeAspect="1"/>
          </p:cNvPicPr>
          <p:nvPr/>
        </p:nvPicPr>
        <p:blipFill rotWithShape="1">
          <a:blip r:embed="rId2"/>
          <a:srcRect l="5818" t="23946" r="110" b="60153"/>
          <a:stretch/>
        </p:blipFill>
        <p:spPr>
          <a:xfrm>
            <a:off x="1127313" y="1122268"/>
            <a:ext cx="10251289" cy="1693343"/>
          </a:xfrm>
          <a:prstGeom prst="rect">
            <a:avLst/>
          </a:prstGeom>
        </p:spPr>
      </p:pic>
      <p:pic>
        <p:nvPicPr>
          <p:cNvPr id="7" name="Picture 7">
            <a:extLst>
              <a:ext uri="{FF2B5EF4-FFF2-40B4-BE49-F238E27FC236}">
                <a16:creationId xmlns:a16="http://schemas.microsoft.com/office/drawing/2014/main" id="{B4BF4571-5606-112E-4C4E-7C846CA5EC2C}"/>
              </a:ext>
            </a:extLst>
          </p:cNvPr>
          <p:cNvPicPr>
            <a:picLocks noChangeAspect="1"/>
          </p:cNvPicPr>
          <p:nvPr/>
        </p:nvPicPr>
        <p:blipFill rotWithShape="1">
          <a:blip r:embed="rId2"/>
          <a:srcRect l="5882" t="55307" r="49680" b="6424"/>
          <a:stretch/>
        </p:blipFill>
        <p:spPr>
          <a:xfrm>
            <a:off x="1295401" y="3240181"/>
            <a:ext cx="9507252" cy="3252713"/>
          </a:xfrm>
          <a:prstGeom prst="rect">
            <a:avLst/>
          </a:prstGeom>
        </p:spPr>
      </p:pic>
    </p:spTree>
    <p:extLst>
      <p:ext uri="{BB962C8B-B14F-4D97-AF65-F5344CB8AC3E}">
        <p14:creationId xmlns:p14="http://schemas.microsoft.com/office/powerpoint/2010/main" val="41100546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D6F60-1D66-A7BC-9FB3-46548530C167}"/>
              </a:ext>
            </a:extLst>
          </p:cNvPr>
          <p:cNvSpPr>
            <a:spLocks noGrp="1"/>
          </p:cNvSpPr>
          <p:nvPr>
            <p:ph type="title"/>
          </p:nvPr>
        </p:nvSpPr>
        <p:spPr>
          <a:xfrm>
            <a:off x="1500129" y="273600"/>
            <a:ext cx="10081791" cy="6201709"/>
          </a:xfrm>
        </p:spPr>
        <p:txBody>
          <a:bodyPr/>
          <a:lstStyle/>
          <a:p>
            <a:r>
              <a:rPr lang="en-US" dirty="0">
                <a:solidFill>
                  <a:schemeClr val="bg1"/>
                </a:solidFill>
              </a:rPr>
              <a:t>Named Entity Recognition</a:t>
            </a:r>
          </a:p>
          <a:p>
            <a:endParaRPr lang="en-US" dirty="0">
              <a:solidFill>
                <a:schemeClr val="bg1"/>
              </a:solidFill>
            </a:endParaRPr>
          </a:p>
        </p:txBody>
      </p:sp>
    </p:spTree>
    <p:extLst>
      <p:ext uri="{BB962C8B-B14F-4D97-AF65-F5344CB8AC3E}">
        <p14:creationId xmlns:p14="http://schemas.microsoft.com/office/powerpoint/2010/main" val="11850070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Text&#10;&#10;Description automatically generated">
            <a:extLst>
              <a:ext uri="{FF2B5EF4-FFF2-40B4-BE49-F238E27FC236}">
                <a16:creationId xmlns:a16="http://schemas.microsoft.com/office/drawing/2014/main" id="{14E25A20-FD5B-3F8E-CA0D-4ED070C233AE}"/>
              </a:ext>
            </a:extLst>
          </p:cNvPr>
          <p:cNvPicPr>
            <a:picLocks noChangeAspect="1"/>
          </p:cNvPicPr>
          <p:nvPr/>
        </p:nvPicPr>
        <p:blipFill>
          <a:blip r:embed="rId2"/>
          <a:stretch>
            <a:fillRect/>
          </a:stretch>
        </p:blipFill>
        <p:spPr>
          <a:xfrm>
            <a:off x="770470" y="798841"/>
            <a:ext cx="5504630" cy="2827198"/>
          </a:xfrm>
          <a:prstGeom prst="rect">
            <a:avLst/>
          </a:prstGeom>
        </p:spPr>
      </p:pic>
      <p:pic>
        <p:nvPicPr>
          <p:cNvPr id="5" name="Picture 5" descr="Text&#10;&#10;Description automatically generated">
            <a:extLst>
              <a:ext uri="{FF2B5EF4-FFF2-40B4-BE49-F238E27FC236}">
                <a16:creationId xmlns:a16="http://schemas.microsoft.com/office/drawing/2014/main" id="{EF9A9E85-197E-2905-2E5A-E4DDE20B68FC}"/>
              </a:ext>
            </a:extLst>
          </p:cNvPr>
          <p:cNvPicPr>
            <a:picLocks noChangeAspect="1"/>
          </p:cNvPicPr>
          <p:nvPr/>
        </p:nvPicPr>
        <p:blipFill>
          <a:blip r:embed="rId3"/>
          <a:stretch>
            <a:fillRect/>
          </a:stretch>
        </p:blipFill>
        <p:spPr>
          <a:xfrm>
            <a:off x="6347255" y="3526567"/>
            <a:ext cx="4409946" cy="2422689"/>
          </a:xfrm>
          <a:prstGeom prst="rect">
            <a:avLst/>
          </a:prstGeom>
        </p:spPr>
      </p:pic>
    </p:spTree>
    <p:extLst>
      <p:ext uri="{BB962C8B-B14F-4D97-AF65-F5344CB8AC3E}">
        <p14:creationId xmlns:p14="http://schemas.microsoft.com/office/powerpoint/2010/main" val="34790021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DAB9C79-350B-BBEE-3220-C77DC344CAAE}"/>
              </a:ext>
            </a:extLst>
          </p:cNvPr>
          <p:cNvSpPr>
            <a:spLocks noGrp="1"/>
          </p:cNvSpPr>
          <p:nvPr>
            <p:ph type="subTitle"/>
          </p:nvPr>
        </p:nvSpPr>
        <p:spPr>
          <a:xfrm>
            <a:off x="609480" y="1253672"/>
            <a:ext cx="10972440" cy="4766689"/>
          </a:xfrm>
        </p:spPr>
        <p:txBody>
          <a:bodyPr/>
          <a:lstStyle/>
          <a:p>
            <a:pPr marL="0" indent="0">
              <a:buNone/>
            </a:pPr>
            <a:endParaRPr lang="en-US"/>
          </a:p>
        </p:txBody>
      </p:sp>
      <p:pic>
        <p:nvPicPr>
          <p:cNvPr id="4" name="Picture 4" descr="Text&#10;&#10;Description automatically generated">
            <a:extLst>
              <a:ext uri="{FF2B5EF4-FFF2-40B4-BE49-F238E27FC236}">
                <a16:creationId xmlns:a16="http://schemas.microsoft.com/office/drawing/2014/main" id="{C0D0B672-8728-170A-CD4C-A4E104A0FA1D}"/>
              </a:ext>
            </a:extLst>
          </p:cNvPr>
          <p:cNvPicPr>
            <a:picLocks noChangeAspect="1"/>
          </p:cNvPicPr>
          <p:nvPr/>
        </p:nvPicPr>
        <p:blipFill>
          <a:blip r:embed="rId2"/>
          <a:stretch>
            <a:fillRect/>
          </a:stretch>
        </p:blipFill>
        <p:spPr>
          <a:xfrm>
            <a:off x="917050" y="1181471"/>
            <a:ext cx="5462278" cy="3268589"/>
          </a:xfrm>
          <a:prstGeom prst="rect">
            <a:avLst/>
          </a:prstGeom>
        </p:spPr>
      </p:pic>
      <p:pic>
        <p:nvPicPr>
          <p:cNvPr id="5" name="Picture 5" descr="Diagram, schematic&#10;&#10;Description automatically generated">
            <a:extLst>
              <a:ext uri="{FF2B5EF4-FFF2-40B4-BE49-F238E27FC236}">
                <a16:creationId xmlns:a16="http://schemas.microsoft.com/office/drawing/2014/main" id="{520A6C42-9D44-DA61-09E8-EAFEBF719E6D}"/>
              </a:ext>
            </a:extLst>
          </p:cNvPr>
          <p:cNvPicPr>
            <a:picLocks noChangeAspect="1"/>
          </p:cNvPicPr>
          <p:nvPr/>
        </p:nvPicPr>
        <p:blipFill>
          <a:blip r:embed="rId3"/>
          <a:stretch>
            <a:fillRect/>
          </a:stretch>
        </p:blipFill>
        <p:spPr>
          <a:xfrm>
            <a:off x="6456717" y="3355850"/>
            <a:ext cx="5056609" cy="2459711"/>
          </a:xfrm>
          <a:prstGeom prst="rect">
            <a:avLst/>
          </a:prstGeom>
        </p:spPr>
      </p:pic>
    </p:spTree>
    <p:extLst>
      <p:ext uri="{BB962C8B-B14F-4D97-AF65-F5344CB8AC3E}">
        <p14:creationId xmlns:p14="http://schemas.microsoft.com/office/powerpoint/2010/main" val="34549599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A2432-3BD0-BE38-05D6-8E766EEAAF3F}"/>
              </a:ext>
            </a:extLst>
          </p:cNvPr>
          <p:cNvSpPr>
            <a:spLocks noGrp="1"/>
          </p:cNvSpPr>
          <p:nvPr>
            <p:ph type="title"/>
          </p:nvPr>
        </p:nvSpPr>
        <p:spPr>
          <a:xfrm>
            <a:off x="609480" y="273600"/>
            <a:ext cx="10972440" cy="1693888"/>
          </a:xfrm>
        </p:spPr>
        <p:txBody>
          <a:bodyPr/>
          <a:lstStyle/>
          <a:p>
            <a:r>
              <a:rPr lang="en-US" dirty="0">
                <a:solidFill>
                  <a:schemeClr val="bg1"/>
                </a:solidFill>
                <a:cs typeface="Arial"/>
              </a:rPr>
              <a:t>Results and Discussions</a:t>
            </a:r>
            <a:endParaRPr lang="en-US" dirty="0">
              <a:solidFill>
                <a:schemeClr val="bg1"/>
              </a:solidFill>
            </a:endParaRPr>
          </a:p>
        </p:txBody>
      </p:sp>
      <p:sp>
        <p:nvSpPr>
          <p:cNvPr id="3" name="Subtitle 2">
            <a:extLst>
              <a:ext uri="{FF2B5EF4-FFF2-40B4-BE49-F238E27FC236}">
                <a16:creationId xmlns:a16="http://schemas.microsoft.com/office/drawing/2014/main" id="{F44D4CF4-F9AB-CC8C-9A37-6805DEED3C1A}"/>
              </a:ext>
            </a:extLst>
          </p:cNvPr>
          <p:cNvSpPr>
            <a:spLocks noGrp="1"/>
          </p:cNvSpPr>
          <p:nvPr>
            <p:ph type="subTitle"/>
          </p:nvPr>
        </p:nvSpPr>
        <p:spPr>
          <a:xfrm>
            <a:off x="956862" y="1604520"/>
            <a:ext cx="10625058" cy="4593603"/>
          </a:xfrm>
        </p:spPr>
        <p:txBody>
          <a:bodyPr/>
          <a:lstStyle/>
          <a:p>
            <a:endParaRPr lang="en-US" sz="2000" dirty="0">
              <a:solidFill>
                <a:schemeClr val="bg1"/>
              </a:solidFill>
              <a:latin typeface="Times New Roman"/>
              <a:cs typeface="Arial"/>
            </a:endParaRPr>
          </a:p>
          <a:p>
            <a:endParaRPr lang="en-US" sz="2000" dirty="0">
              <a:solidFill>
                <a:schemeClr val="bg1"/>
              </a:solidFill>
              <a:latin typeface="Times New Roman"/>
              <a:cs typeface="Arial"/>
            </a:endParaRPr>
          </a:p>
        </p:txBody>
      </p:sp>
      <p:pic>
        <p:nvPicPr>
          <p:cNvPr id="4" name="Picture 4" descr="Graphical user interface, application&#10;&#10;Description automatically generated">
            <a:extLst>
              <a:ext uri="{FF2B5EF4-FFF2-40B4-BE49-F238E27FC236}">
                <a16:creationId xmlns:a16="http://schemas.microsoft.com/office/drawing/2014/main" id="{E2D237E6-6F22-E859-3379-A51C370EF0F6}"/>
              </a:ext>
            </a:extLst>
          </p:cNvPr>
          <p:cNvPicPr>
            <a:picLocks noChangeAspect="1"/>
          </p:cNvPicPr>
          <p:nvPr/>
        </p:nvPicPr>
        <p:blipFill>
          <a:blip r:embed="rId2"/>
          <a:stretch>
            <a:fillRect/>
          </a:stretch>
        </p:blipFill>
        <p:spPr>
          <a:xfrm>
            <a:off x="1003992" y="1650028"/>
            <a:ext cx="5277066" cy="2947953"/>
          </a:xfrm>
          <a:prstGeom prst="rect">
            <a:avLst/>
          </a:prstGeom>
        </p:spPr>
      </p:pic>
      <p:pic>
        <p:nvPicPr>
          <p:cNvPr id="5" name="Picture 5" descr="Graphical user interface, application&#10;&#10;Description automatically generated">
            <a:extLst>
              <a:ext uri="{FF2B5EF4-FFF2-40B4-BE49-F238E27FC236}">
                <a16:creationId xmlns:a16="http://schemas.microsoft.com/office/drawing/2014/main" id="{C691D652-9949-1AED-28C5-CD83026723E7}"/>
              </a:ext>
            </a:extLst>
          </p:cNvPr>
          <p:cNvPicPr>
            <a:picLocks noChangeAspect="1"/>
          </p:cNvPicPr>
          <p:nvPr/>
        </p:nvPicPr>
        <p:blipFill>
          <a:blip r:embed="rId3"/>
          <a:stretch>
            <a:fillRect/>
          </a:stretch>
        </p:blipFill>
        <p:spPr>
          <a:xfrm>
            <a:off x="6417130" y="3324278"/>
            <a:ext cx="4963884" cy="2702900"/>
          </a:xfrm>
          <a:prstGeom prst="rect">
            <a:avLst/>
          </a:prstGeom>
        </p:spPr>
      </p:pic>
    </p:spTree>
    <p:extLst>
      <p:ext uri="{BB962C8B-B14F-4D97-AF65-F5344CB8AC3E}">
        <p14:creationId xmlns:p14="http://schemas.microsoft.com/office/powerpoint/2010/main" val="20803794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DED68-8BE4-1CF9-CD8F-80FFA596D7BD}"/>
              </a:ext>
            </a:extLst>
          </p:cNvPr>
          <p:cNvSpPr>
            <a:spLocks noGrp="1"/>
          </p:cNvSpPr>
          <p:nvPr>
            <p:ph type="title"/>
          </p:nvPr>
        </p:nvSpPr>
        <p:spPr>
          <a:xfrm>
            <a:off x="609480" y="273600"/>
            <a:ext cx="10786052" cy="1144800"/>
          </a:xfrm>
        </p:spPr>
        <p:txBody>
          <a:bodyPr/>
          <a:lstStyle/>
          <a:p>
            <a:r>
              <a:rPr lang="en-US" sz="4000" dirty="0">
                <a:solidFill>
                  <a:schemeClr val="bg1"/>
                </a:solidFill>
              </a:rPr>
              <a:t>Final Result</a:t>
            </a:r>
            <a:endParaRPr lang="en-US" sz="4000">
              <a:solidFill>
                <a:schemeClr val="bg1"/>
              </a:solidFill>
            </a:endParaRPr>
          </a:p>
        </p:txBody>
      </p:sp>
      <p:sp>
        <p:nvSpPr>
          <p:cNvPr id="3" name="Subtitle 2">
            <a:extLst>
              <a:ext uri="{FF2B5EF4-FFF2-40B4-BE49-F238E27FC236}">
                <a16:creationId xmlns:a16="http://schemas.microsoft.com/office/drawing/2014/main" id="{6233B83A-DFFB-80BC-5C40-2F8A872C4317}"/>
              </a:ext>
            </a:extLst>
          </p:cNvPr>
          <p:cNvSpPr>
            <a:spLocks noGrp="1"/>
          </p:cNvSpPr>
          <p:nvPr>
            <p:ph type="subTitle"/>
          </p:nvPr>
        </p:nvSpPr>
        <p:spPr/>
        <p:txBody>
          <a:bodyPr/>
          <a:lstStyle/>
          <a:p>
            <a:endParaRPr lang="en-US"/>
          </a:p>
        </p:txBody>
      </p:sp>
      <p:pic>
        <p:nvPicPr>
          <p:cNvPr id="4" name="Picture 4" descr="Diagram&#10;&#10;Description automatically generated">
            <a:extLst>
              <a:ext uri="{FF2B5EF4-FFF2-40B4-BE49-F238E27FC236}">
                <a16:creationId xmlns:a16="http://schemas.microsoft.com/office/drawing/2014/main" id="{D03D12CA-A594-0501-E6CD-9A136B256C22}"/>
              </a:ext>
            </a:extLst>
          </p:cNvPr>
          <p:cNvPicPr>
            <a:picLocks noChangeAspect="1"/>
          </p:cNvPicPr>
          <p:nvPr/>
        </p:nvPicPr>
        <p:blipFill>
          <a:blip r:embed="rId2"/>
          <a:stretch>
            <a:fillRect/>
          </a:stretch>
        </p:blipFill>
        <p:spPr>
          <a:xfrm>
            <a:off x="664029" y="1712152"/>
            <a:ext cx="10912927" cy="3869123"/>
          </a:xfrm>
          <a:prstGeom prst="rect">
            <a:avLst/>
          </a:prstGeom>
        </p:spPr>
      </p:pic>
    </p:spTree>
    <p:extLst>
      <p:ext uri="{BB962C8B-B14F-4D97-AF65-F5344CB8AC3E}">
        <p14:creationId xmlns:p14="http://schemas.microsoft.com/office/powerpoint/2010/main" val="39055105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F6BC2-3D0A-A437-2355-942F2B3F6091}"/>
              </a:ext>
            </a:extLst>
          </p:cNvPr>
          <p:cNvSpPr>
            <a:spLocks noGrp="1"/>
          </p:cNvSpPr>
          <p:nvPr>
            <p:ph type="title"/>
          </p:nvPr>
        </p:nvSpPr>
        <p:spPr/>
        <p:txBody>
          <a:bodyPr/>
          <a:lstStyle/>
          <a:p>
            <a:r>
              <a:rPr lang="en-US" dirty="0">
                <a:solidFill>
                  <a:schemeClr val="bg1"/>
                </a:solidFill>
                <a:cs typeface="Arial"/>
              </a:rPr>
              <a:t>Analysis and findings</a:t>
            </a:r>
            <a:endParaRPr lang="en-US">
              <a:solidFill>
                <a:schemeClr val="bg1"/>
              </a:solidFill>
            </a:endParaRPr>
          </a:p>
        </p:txBody>
      </p:sp>
      <p:sp>
        <p:nvSpPr>
          <p:cNvPr id="3" name="Subtitle 2">
            <a:extLst>
              <a:ext uri="{FF2B5EF4-FFF2-40B4-BE49-F238E27FC236}">
                <a16:creationId xmlns:a16="http://schemas.microsoft.com/office/drawing/2014/main" id="{5BBAD925-7274-A53A-C228-BBEF296C94E2}"/>
              </a:ext>
            </a:extLst>
          </p:cNvPr>
          <p:cNvSpPr>
            <a:spLocks noGrp="1"/>
          </p:cNvSpPr>
          <p:nvPr>
            <p:ph type="subTitle"/>
          </p:nvPr>
        </p:nvSpPr>
        <p:spPr/>
        <p:txBody>
          <a:bodyPr/>
          <a:lstStyle/>
          <a:p>
            <a:r>
              <a:rPr lang="en-US" dirty="0">
                <a:solidFill>
                  <a:schemeClr val="bg1"/>
                </a:solidFill>
                <a:ea typeface="+mn-lt"/>
                <a:cs typeface="+mn-lt"/>
              </a:rPr>
              <a:t>Analysis and findings</a:t>
            </a:r>
            <a:endParaRPr lang="en-US" dirty="0">
              <a:solidFill>
                <a:schemeClr val="bg1"/>
              </a:solidFill>
            </a:endParaRPr>
          </a:p>
        </p:txBody>
      </p:sp>
      <p:pic>
        <p:nvPicPr>
          <p:cNvPr id="4" name="Picture 4" descr="A picture containing text">
            <a:extLst>
              <a:ext uri="{FF2B5EF4-FFF2-40B4-BE49-F238E27FC236}">
                <a16:creationId xmlns:a16="http://schemas.microsoft.com/office/drawing/2014/main" id="{1FD9806B-3B96-25F9-1D61-B5FF5EA94D1E}"/>
              </a:ext>
            </a:extLst>
          </p:cNvPr>
          <p:cNvPicPr>
            <a:picLocks noChangeAspect="1"/>
          </p:cNvPicPr>
          <p:nvPr/>
        </p:nvPicPr>
        <p:blipFill rotWithShape="1">
          <a:blip r:embed="rId2"/>
          <a:srcRect t="13934" r="163" b="11066"/>
          <a:stretch/>
        </p:blipFill>
        <p:spPr>
          <a:xfrm>
            <a:off x="1425282" y="2032513"/>
            <a:ext cx="6983686" cy="1041315"/>
          </a:xfrm>
          <a:prstGeom prst="rect">
            <a:avLst/>
          </a:prstGeom>
        </p:spPr>
      </p:pic>
      <p:sp>
        <p:nvSpPr>
          <p:cNvPr id="5" name="TextBox 4">
            <a:extLst>
              <a:ext uri="{FF2B5EF4-FFF2-40B4-BE49-F238E27FC236}">
                <a16:creationId xmlns:a16="http://schemas.microsoft.com/office/drawing/2014/main" id="{683F445A-D690-EB1C-CE0C-6E88CFB2B6F6}"/>
              </a:ext>
            </a:extLst>
          </p:cNvPr>
          <p:cNvSpPr txBox="1"/>
          <p:nvPr/>
        </p:nvSpPr>
        <p:spPr>
          <a:xfrm>
            <a:off x="1160058" y="3355074"/>
            <a:ext cx="8302388"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chemeClr val="bg1"/>
                </a:solidFill>
                <a:latin typeface="Times New Roman"/>
              </a:rPr>
              <a:t>F1 score: 0.763</a:t>
            </a:r>
          </a:p>
          <a:p>
            <a:r>
              <a:rPr lang="en-US" sz="3200" dirty="0">
                <a:solidFill>
                  <a:schemeClr val="bg1"/>
                </a:solidFill>
                <a:latin typeface="Times New Roman"/>
              </a:rPr>
              <a:t>Precision :  0.602</a:t>
            </a:r>
          </a:p>
          <a:p>
            <a:r>
              <a:rPr lang="en-US" sz="3200" dirty="0">
                <a:solidFill>
                  <a:schemeClr val="bg1"/>
                </a:solidFill>
                <a:latin typeface="Times New Roman"/>
              </a:rPr>
              <a:t>Recall: 0.673</a:t>
            </a:r>
          </a:p>
        </p:txBody>
      </p:sp>
    </p:spTree>
    <p:extLst>
      <p:ext uri="{BB962C8B-B14F-4D97-AF65-F5344CB8AC3E}">
        <p14:creationId xmlns:p14="http://schemas.microsoft.com/office/powerpoint/2010/main" val="20048759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1C872-2832-B476-A60D-655EACE86D2A}"/>
              </a:ext>
            </a:extLst>
          </p:cNvPr>
          <p:cNvSpPr>
            <a:spLocks noGrp="1"/>
          </p:cNvSpPr>
          <p:nvPr>
            <p:ph type="title"/>
          </p:nvPr>
        </p:nvSpPr>
        <p:spPr>
          <a:xfrm>
            <a:off x="609780" y="171644"/>
            <a:ext cx="10972440" cy="1144800"/>
          </a:xfrm>
        </p:spPr>
        <p:txBody>
          <a:bodyPr/>
          <a:lstStyle/>
          <a:p>
            <a:pPr algn="ctr"/>
            <a:r>
              <a:rPr lang="en-IN" sz="4400" b="1" cap="all" spc="-1" dirty="0">
                <a:solidFill>
                  <a:srgbClr val="E798B0"/>
                </a:solidFill>
                <a:latin typeface="Times New Roman" panose="02020603050405020304" pitchFamily="18" charset="0"/>
                <a:cs typeface="Times New Roman" panose="02020603050405020304" pitchFamily="18" charset="0"/>
              </a:rPr>
              <a:t>conclusion</a:t>
            </a:r>
            <a:endParaRPr lang="en-IN" dirty="0"/>
          </a:p>
        </p:txBody>
      </p:sp>
      <p:sp>
        <p:nvSpPr>
          <p:cNvPr id="3" name="Subtitle 2">
            <a:extLst>
              <a:ext uri="{FF2B5EF4-FFF2-40B4-BE49-F238E27FC236}">
                <a16:creationId xmlns:a16="http://schemas.microsoft.com/office/drawing/2014/main" id="{CD634342-C299-5ED0-492F-AD292C2EC72E}"/>
              </a:ext>
            </a:extLst>
          </p:cNvPr>
          <p:cNvSpPr>
            <a:spLocks noGrp="1"/>
          </p:cNvSpPr>
          <p:nvPr>
            <p:ph type="subTitle"/>
          </p:nvPr>
        </p:nvSpPr>
        <p:spPr>
          <a:xfrm>
            <a:off x="963987" y="1091682"/>
            <a:ext cx="10382037" cy="5915607"/>
          </a:xfrm>
        </p:spPr>
        <p:txBody>
          <a:bodyPr/>
          <a:lstStyle/>
          <a:p>
            <a:pPr marL="342900" indent="-342900">
              <a:lnSpc>
                <a:spcPct val="150000"/>
              </a:lnSpc>
              <a:buFont typeface="Arial" panose="020B0604020202020204" pitchFamily="34" charset="0"/>
              <a:buChar char="•"/>
            </a:pPr>
            <a:r>
              <a:rPr lang="en-US" sz="2100" dirty="0">
                <a:solidFill>
                  <a:schemeClr val="bg1"/>
                </a:solidFill>
                <a:latin typeface="Times New Roman" panose="02020603050405020304" pitchFamily="18" charset="0"/>
                <a:cs typeface="Times New Roman" panose="02020603050405020304" pitchFamily="18" charset="0"/>
              </a:rPr>
              <a:t>The integration of the GPGNN algorithm, NER techniques for Hindi, and Flask UI has resulted in a powerful and user-friendly natural language processing system. </a:t>
            </a:r>
          </a:p>
          <a:p>
            <a:pPr marL="342900" indent="-342900">
              <a:lnSpc>
                <a:spcPct val="150000"/>
              </a:lnSpc>
              <a:buFont typeface="Arial" panose="020B0604020202020204" pitchFamily="34" charset="0"/>
              <a:buChar char="•"/>
            </a:pPr>
            <a:r>
              <a:rPr lang="en-US" sz="2100" dirty="0">
                <a:solidFill>
                  <a:schemeClr val="bg1"/>
                </a:solidFill>
                <a:latin typeface="Times New Roman" panose="02020603050405020304" pitchFamily="18" charset="0"/>
                <a:cs typeface="Times New Roman" panose="02020603050405020304" pitchFamily="18" charset="0"/>
              </a:rPr>
              <a:t>This system effectively captures semantic connections in Hindi text and enhances accurate entity identification through NER. </a:t>
            </a:r>
          </a:p>
          <a:p>
            <a:pPr marL="342900" indent="-342900">
              <a:lnSpc>
                <a:spcPct val="150000"/>
              </a:lnSpc>
              <a:buFont typeface="Arial" panose="020B0604020202020204" pitchFamily="34" charset="0"/>
              <a:buChar char="•"/>
            </a:pPr>
            <a:r>
              <a:rPr lang="en-US" sz="2100" dirty="0">
                <a:solidFill>
                  <a:schemeClr val="bg1"/>
                </a:solidFill>
                <a:latin typeface="Times New Roman" panose="02020603050405020304" pitchFamily="18" charset="0"/>
                <a:cs typeface="Times New Roman" panose="02020603050405020304" pitchFamily="18" charset="0"/>
              </a:rPr>
              <a:t>The Flask UI offers a convenient platform for users to input text, initiate extraction, and visualize the resulting knowledge graph. </a:t>
            </a:r>
          </a:p>
          <a:p>
            <a:pPr marL="342900" indent="-342900">
              <a:lnSpc>
                <a:spcPct val="150000"/>
              </a:lnSpc>
              <a:buFont typeface="Arial" panose="020B0604020202020204" pitchFamily="34" charset="0"/>
              <a:buChar char="•"/>
            </a:pPr>
            <a:r>
              <a:rPr lang="en-US" sz="2100" dirty="0">
                <a:solidFill>
                  <a:schemeClr val="bg1"/>
                </a:solidFill>
                <a:latin typeface="Times New Roman" panose="02020603050405020304" pitchFamily="18" charset="0"/>
                <a:cs typeface="Times New Roman" panose="02020603050405020304" pitchFamily="18" charset="0"/>
              </a:rPr>
              <a:t>With an in-depth analysis, efficient querying, and knowledge discovery, this system holds practical implications for text understanding, information retrieval, and data analytics across various domains.</a:t>
            </a:r>
            <a:endParaRPr lang="en-IN" sz="21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09948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 name="Title 1"/>
          <p:cNvSpPr txBox="1"/>
          <p:nvPr/>
        </p:nvSpPr>
        <p:spPr>
          <a:xfrm>
            <a:off x="947177" y="0"/>
            <a:ext cx="9905760" cy="1478160"/>
          </a:xfrm>
          <a:prstGeom prst="rect">
            <a:avLst/>
          </a:prstGeom>
          <a:noFill/>
          <a:ln w="0">
            <a:noFill/>
          </a:ln>
        </p:spPr>
        <p:txBody>
          <a:bodyPr anchor="ctr">
            <a:noAutofit/>
          </a:bodyPr>
          <a:lstStyle/>
          <a:p>
            <a:pPr algn="ctr">
              <a:lnSpc>
                <a:spcPct val="90000"/>
              </a:lnSpc>
            </a:pPr>
            <a:r>
              <a:rPr lang="en-IN" sz="4000" b="1" strike="noStrike" cap="all" spc="-1" dirty="0">
                <a:solidFill>
                  <a:srgbClr val="E798B0"/>
                </a:solidFill>
                <a:latin typeface="Times New Roman" panose="02020603050405020304" pitchFamily="18" charset="0"/>
                <a:cs typeface="Times New Roman" panose="02020603050405020304" pitchFamily="18" charset="0"/>
              </a:rPr>
              <a:t>REFERENCE</a:t>
            </a:r>
            <a:r>
              <a:rPr lang="en-IN" sz="3600" b="0" strike="noStrike" cap="all" spc="-1" dirty="0">
                <a:solidFill>
                  <a:srgbClr val="FFFFFF"/>
                </a:solidFill>
                <a:latin typeface="Tw Cen MT"/>
              </a:rPr>
              <a:t> </a:t>
            </a:r>
            <a:endParaRPr lang="en-US" sz="3600" b="0" strike="noStrike" spc="-1" dirty="0">
              <a:solidFill>
                <a:srgbClr val="FFFFFF"/>
              </a:solidFill>
              <a:latin typeface="Tw Cen MT"/>
            </a:endParaRPr>
          </a:p>
        </p:txBody>
      </p:sp>
      <p:sp>
        <p:nvSpPr>
          <p:cNvPr id="331" name="Content Placeholder 2"/>
          <p:cNvSpPr txBox="1"/>
          <p:nvPr/>
        </p:nvSpPr>
        <p:spPr>
          <a:xfrm>
            <a:off x="1100224" y="1398207"/>
            <a:ext cx="10578492" cy="4864238"/>
          </a:xfrm>
          <a:prstGeom prst="rect">
            <a:avLst/>
          </a:prstGeom>
          <a:noFill/>
          <a:ln w="0">
            <a:noFill/>
          </a:ln>
        </p:spPr>
        <p:txBody>
          <a:bodyPr>
            <a:normAutofit/>
          </a:bodyPr>
          <a:lstStyle/>
          <a:p>
            <a:pPr marL="228600" indent="-228240">
              <a:lnSpc>
                <a:spcPct val="150000"/>
              </a:lnSpc>
              <a:spcBef>
                <a:spcPts val="1001"/>
              </a:spcBef>
              <a:buClr>
                <a:srgbClr val="FFFFFF"/>
              </a:buClr>
              <a:buSzPct val="125000"/>
              <a:buFont typeface="Arial"/>
              <a:buChar char="•"/>
            </a:pPr>
            <a:r>
              <a:rPr lang="en-IN" sz="2000" b="0" u="sng" strike="noStrike" spc="-1" dirty="0">
                <a:solidFill>
                  <a:schemeClr val="bg1"/>
                </a:solidFill>
                <a:uFillTx/>
                <a:latin typeface="Tw Cen MT"/>
                <a:hlinkClick r:id="rId2">
                  <a:extLst>
                    <a:ext uri="{A12FA001-AC4F-418D-AE19-62706E023703}">
                      <ahyp:hlinkClr xmlns:ahyp="http://schemas.microsoft.com/office/drawing/2018/hyperlinkcolor" val="tx"/>
                    </a:ext>
                  </a:extLst>
                </a:hlinkClick>
              </a:rPr>
              <a:t>https://developpaper.com/in-this-paper-graph-neural-network-is-applied-to-named-entity-recognition-and-relation-extraction-of-semi-structured-documents/</a:t>
            </a:r>
            <a:endParaRPr lang="en-US" sz="2000" b="0" strike="noStrike" spc="-1" dirty="0">
              <a:solidFill>
                <a:schemeClr val="bg1"/>
              </a:solidFill>
              <a:latin typeface="Tw Cen MT"/>
            </a:endParaRPr>
          </a:p>
          <a:p>
            <a:pPr marL="228600" indent="-228240">
              <a:lnSpc>
                <a:spcPct val="150000"/>
              </a:lnSpc>
              <a:spcBef>
                <a:spcPts val="1001"/>
              </a:spcBef>
              <a:buClr>
                <a:srgbClr val="FFFFFF"/>
              </a:buClr>
              <a:buSzPct val="125000"/>
              <a:buFont typeface="Arial"/>
              <a:buChar char="•"/>
            </a:pPr>
            <a:r>
              <a:rPr lang="en-IN" sz="2000" b="0" u="sng" strike="noStrike" spc="-1" dirty="0">
                <a:solidFill>
                  <a:schemeClr val="bg1"/>
                </a:solidFill>
                <a:uFillTx/>
                <a:latin typeface="Tw Cen MT"/>
                <a:hlinkClick r:id="rId3">
                  <a:extLst>
                    <a:ext uri="{A12FA001-AC4F-418D-AE19-62706E023703}">
                      <ahyp:hlinkClr xmlns:ahyp="http://schemas.microsoft.com/office/drawing/2018/hyperlinkcolor" val="tx"/>
                    </a:ext>
                  </a:extLst>
                </a:hlinkClick>
              </a:rPr>
              <a:t>https://www.researchgate.net/figure/The-taxonomy-of-Information-Extraction-b-Semi-Structured-Data-Semi-structure-means-that_fig1_224351589</a:t>
            </a:r>
            <a:endParaRPr lang="en-US" sz="2000" b="0" strike="noStrike" spc="-1" dirty="0">
              <a:solidFill>
                <a:schemeClr val="bg1"/>
              </a:solidFill>
              <a:latin typeface="Tw Cen MT"/>
            </a:endParaRPr>
          </a:p>
          <a:p>
            <a:pPr marL="228600" indent="-228240">
              <a:lnSpc>
                <a:spcPct val="150000"/>
              </a:lnSpc>
              <a:spcBef>
                <a:spcPts val="1001"/>
              </a:spcBef>
              <a:buClr>
                <a:srgbClr val="FFFFFF"/>
              </a:buClr>
              <a:buSzPct val="125000"/>
              <a:buFont typeface="Arial"/>
              <a:buChar char="•"/>
            </a:pPr>
            <a:r>
              <a:rPr lang="en-IN" sz="2000" b="0" u="sng" strike="noStrike" spc="-1" dirty="0">
                <a:solidFill>
                  <a:schemeClr val="bg1"/>
                </a:solidFill>
                <a:uFillTx/>
                <a:latin typeface="Tw Cen MT"/>
                <a:hlinkClick r:id="rId4">
                  <a:extLst>
                    <a:ext uri="{A12FA001-AC4F-418D-AE19-62706E023703}">
                      <ahyp:hlinkClr xmlns:ahyp="http://schemas.microsoft.com/office/drawing/2018/hyperlinkcolor" val="tx"/>
                    </a:ext>
                  </a:extLst>
                </a:hlinkClick>
              </a:rPr>
              <a:t>https://youtu.be/y7sXDpffzQQ</a:t>
            </a:r>
            <a:endParaRPr lang="en-US" sz="2000" b="0" strike="noStrike" spc="-1" dirty="0">
              <a:solidFill>
                <a:schemeClr val="bg1"/>
              </a:solidFill>
              <a:latin typeface="Tw Cen MT"/>
            </a:endParaRPr>
          </a:p>
          <a:p>
            <a:pPr marL="228600" indent="-228240">
              <a:lnSpc>
                <a:spcPct val="150000"/>
              </a:lnSpc>
              <a:spcBef>
                <a:spcPts val="1001"/>
              </a:spcBef>
              <a:buClr>
                <a:srgbClr val="FFFFFF"/>
              </a:buClr>
              <a:buSzPct val="125000"/>
              <a:buFont typeface="Arial"/>
              <a:buChar char="•"/>
            </a:pPr>
            <a:r>
              <a:rPr lang="en-IN" sz="2000" b="0" u="sng" strike="noStrike" spc="-1" dirty="0">
                <a:solidFill>
                  <a:schemeClr val="bg1"/>
                </a:solidFill>
                <a:uFillTx/>
                <a:latin typeface="Tw Cen MT"/>
                <a:hlinkClick r:id="rId5">
                  <a:extLst>
                    <a:ext uri="{A12FA001-AC4F-418D-AE19-62706E023703}">
                      <ahyp:hlinkClr xmlns:ahyp="http://schemas.microsoft.com/office/drawing/2018/hyperlinkcolor" val="tx"/>
                    </a:ext>
                  </a:extLst>
                </a:hlinkClick>
              </a:rPr>
              <a:t>https://youtu.be/ZKwYitIkSOE</a:t>
            </a:r>
            <a:endParaRPr lang="en-US" sz="2000" b="0" strike="noStrike" spc="-1" dirty="0">
              <a:solidFill>
                <a:schemeClr val="bg1"/>
              </a:solidFill>
              <a:latin typeface="Tw Cen MT"/>
            </a:endParaRPr>
          </a:p>
          <a:p>
            <a:pPr marL="228600" indent="-228240">
              <a:lnSpc>
                <a:spcPct val="150000"/>
              </a:lnSpc>
              <a:spcBef>
                <a:spcPts val="1001"/>
              </a:spcBef>
              <a:buClr>
                <a:srgbClr val="FFFFFF"/>
              </a:buClr>
              <a:buSzPct val="125000"/>
              <a:buFont typeface="Arial"/>
              <a:buChar char="•"/>
            </a:pPr>
            <a:r>
              <a:rPr lang="en-IN" sz="2000" b="0" u="sng" strike="noStrike" spc="-1" dirty="0">
                <a:solidFill>
                  <a:schemeClr val="bg1"/>
                </a:solidFill>
                <a:uFillTx/>
                <a:latin typeface="Tw Cen MT"/>
                <a:hlinkClick r:id="rId6">
                  <a:extLst>
                    <a:ext uri="{A12FA001-AC4F-418D-AE19-62706E023703}">
                      <ahyp:hlinkClr xmlns:ahyp="http://schemas.microsoft.com/office/drawing/2018/hyperlinkcolor" val="tx"/>
                    </a:ext>
                  </a:extLst>
                </a:hlinkClick>
              </a:rPr>
              <a:t>https://www.researchgate.net/publication/352113408_RECON_Relation_Extraction_using_Knowledge_Graph_Context_in_a_Graph_Neural_Network</a:t>
            </a:r>
            <a:r>
              <a:rPr lang="en-IN" sz="2000" b="0" strike="noStrike" spc="-1" dirty="0">
                <a:solidFill>
                  <a:schemeClr val="bg1"/>
                </a:solidFill>
                <a:latin typeface="Tw Cen MT"/>
              </a:rPr>
              <a:t> </a:t>
            </a:r>
            <a:endParaRPr lang="en-US" sz="2000" b="0" strike="noStrike" spc="-1" dirty="0">
              <a:solidFill>
                <a:schemeClr val="bg1"/>
              </a:solidFill>
              <a:latin typeface="Tw Cen M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 name="Title 1"/>
          <p:cNvSpPr/>
          <p:nvPr/>
        </p:nvSpPr>
        <p:spPr>
          <a:xfrm>
            <a:off x="3590280" y="2346480"/>
            <a:ext cx="5396040" cy="1324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IN" sz="6000" b="1" strike="noStrike" cap="all" spc="-1" dirty="0">
                <a:solidFill>
                  <a:srgbClr val="E798B0"/>
                </a:solidFill>
                <a:latin typeface="Tw Cen MT"/>
                <a:ea typeface="DejaVu Sans"/>
              </a:rPr>
              <a:t>THANK YOU</a:t>
            </a:r>
            <a:endParaRPr lang="en-US" sz="6000" b="0" strike="noStrike" spc="-1" dirty="0">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TM04033919[[fn=Circuit]]</Template>
  <TotalTime>2148</TotalTime>
  <Words>1205</Words>
  <Application>Microsoft Office PowerPoint</Application>
  <PresentationFormat>Widescreen</PresentationFormat>
  <Paragraphs>166</Paragraphs>
  <Slides>33</Slides>
  <Notes>0</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33</vt:i4>
      </vt:variant>
    </vt:vector>
  </HeadingPairs>
  <TitlesOfParts>
    <vt:vector size="46" baseType="lpstr">
      <vt:lpstr>Arial</vt:lpstr>
      <vt:lpstr>Calibri</vt:lpstr>
      <vt:lpstr>Consolas</vt:lpstr>
      <vt:lpstr>Courier New</vt:lpstr>
      <vt:lpstr>Lato</vt:lpstr>
      <vt:lpstr>Söhne</vt:lpstr>
      <vt:lpstr>Symbol</vt:lpstr>
      <vt:lpstr>Times New Roman</vt:lpstr>
      <vt:lpstr>Tw Cen MT</vt:lpstr>
      <vt:lpstr>Wingdings</vt:lpstr>
      <vt:lpstr>Office Theme</vt:lpstr>
      <vt:lpstr>Office Theme</vt:lpstr>
      <vt:lpstr>Office Theme</vt:lpstr>
      <vt:lpstr>PowerPoint Presentation</vt:lpstr>
      <vt:lpstr>PowerPoint Presentation</vt:lpstr>
      <vt:lpstr>PowerPoint Presentation</vt:lpstr>
      <vt:lpstr>PowerPoint Presentation</vt:lpstr>
      <vt:lpstr>ABSTRACT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GP GNN(graph neural networks with generated parameters) algorithm </vt:lpstr>
      <vt:lpstr>Removing Stop Words</vt:lpstr>
      <vt:lpstr>Tokenization and Keyword generation </vt:lpstr>
      <vt:lpstr>PowerPoint Presentation</vt:lpstr>
      <vt:lpstr>PowerPoint Presentation</vt:lpstr>
      <vt:lpstr>PowerPoint Presentation</vt:lpstr>
      <vt:lpstr>PowerPoint Presentation</vt:lpstr>
      <vt:lpstr>PowerPoint Presentation</vt:lpstr>
      <vt:lpstr>PowerPoint Presentation</vt:lpstr>
      <vt:lpstr>BIO Tagging </vt:lpstr>
      <vt:lpstr>PowerPoint Presentation</vt:lpstr>
      <vt:lpstr>Named Entity Recognition </vt:lpstr>
      <vt:lpstr>PowerPoint Presentation</vt:lpstr>
      <vt:lpstr>PowerPoint Presentation</vt:lpstr>
      <vt:lpstr>Results and Discussions</vt:lpstr>
      <vt:lpstr>Final Result</vt:lpstr>
      <vt:lpstr>Analysis and findings</vt:lpstr>
      <vt:lpstr>conclusion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sithara jp</dc:creator>
  <dc:description/>
  <cp:lastModifiedBy>R. Sneha Nair - [CB.EN.U4CSE19139]</cp:lastModifiedBy>
  <cp:revision>602</cp:revision>
  <dcterms:created xsi:type="dcterms:W3CDTF">2022-08-08T04:19:01Z</dcterms:created>
  <dcterms:modified xsi:type="dcterms:W3CDTF">2023-05-31T11:54:08Z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21</vt:i4>
  </property>
</Properties>
</file>